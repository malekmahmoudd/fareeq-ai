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82f239dad34d79" /><Relationship Type="http://schemas.openxmlformats.org/officeDocument/2006/relationships/extended-properties" Target="/docProps/app.xml" Id="R248a2cefda224b98" /><Relationship Type="http://schemas.openxmlformats.org/officeDocument/2006/relationships/officeDocument" Target="/ppt/presentation.xml" Id="R7e19f34d743d44b4" /></Relationships>
</file>

<file path=ppt/presentation.xml><?xml version="1.0" encoding="utf-8"?>
<p:presentation xmlns:p="http://schemas.openxmlformats.org/presentationml/2006/main">
  <p:sldMasterIdLst>
    <p:sldMasterId xmlns:r="http://schemas.openxmlformats.org/officeDocument/2006/relationships" id="2147483648" r:id="R355e504008314145"/>
  </p:sldMasterIdLst>
  <p:notesMasterIdLst>
    <p:notesMasterId xmlns:r="http://schemas.openxmlformats.org/officeDocument/2006/relationships" r:id="R7975c955dd464a0c"/>
  </p:notesMasterIdLst>
  <p:sldIdLst>
    <p:sldId xmlns:r="http://schemas.openxmlformats.org/officeDocument/2006/relationships" id="256" r:id="Rf76e643011c341fe"/>
    <p:sldId xmlns:r="http://schemas.openxmlformats.org/officeDocument/2006/relationships" id="257" r:id="R37a6bd7213ee46ba"/>
    <p:sldId xmlns:r="http://schemas.openxmlformats.org/officeDocument/2006/relationships" id="258" r:id="R1121448caf3544e8"/>
    <p:sldId xmlns:r="http://schemas.openxmlformats.org/officeDocument/2006/relationships" id="259" r:id="R1e9e8fb251434018"/>
    <p:sldId xmlns:r="http://schemas.openxmlformats.org/officeDocument/2006/relationships" id="260" r:id="Rd4b86fecd63e4c31"/>
    <p:sldId xmlns:r="http://schemas.openxmlformats.org/officeDocument/2006/relationships" id="261" r:id="Rcff6e9818301468a"/>
    <p:sldId xmlns:r="http://schemas.openxmlformats.org/officeDocument/2006/relationships" id="262" r:id="R96f1678a56704819"/>
    <p:sldId xmlns:r="http://schemas.openxmlformats.org/officeDocument/2006/relationships" id="263" r:id="R6b07ee6d905d4a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4ec52b74014e68" /><Relationship Type="http://schemas.openxmlformats.org/officeDocument/2006/relationships/slideMaster" Target="/ppt/slideMasters/slideMaster1.xml" Id="R355e504008314145" /><Relationship Type="http://schemas.openxmlformats.org/officeDocument/2006/relationships/notesMaster" Target="/ppt/notesMasters/notesMaster1.xml" Id="R7975c955dd464a0c" /><Relationship Type="http://schemas.openxmlformats.org/officeDocument/2006/relationships/presProps" Target="/ppt/presProps.xml" Id="R78ed56cd70374c51" /><Relationship Type="http://schemas.openxmlformats.org/officeDocument/2006/relationships/tableStyles" Target="/ppt/tableStyles.xml" Id="R0db97f4523de4f6e" /><Relationship Type="http://schemas.openxmlformats.org/officeDocument/2006/relationships/slide" Target="/ppt/slides/slide1.xml" Id="Rf76e643011c341fe" /><Relationship Type="http://schemas.openxmlformats.org/officeDocument/2006/relationships/slide" Target="/ppt/slides/slide2.xml" Id="R37a6bd7213ee46ba" /><Relationship Type="http://schemas.openxmlformats.org/officeDocument/2006/relationships/slide" Target="/ppt/slides/slide3.xml" Id="R1121448caf3544e8" /><Relationship Type="http://schemas.openxmlformats.org/officeDocument/2006/relationships/slide" Target="/ppt/slides/slide4.xml" Id="R1e9e8fb251434018" /><Relationship Type="http://schemas.openxmlformats.org/officeDocument/2006/relationships/slide" Target="/ppt/slides/slide5.xml" Id="Rd4b86fecd63e4c31" /><Relationship Type="http://schemas.openxmlformats.org/officeDocument/2006/relationships/slide" Target="/ppt/slides/slide6.xml" Id="Rcff6e9818301468a" /><Relationship Type="http://schemas.openxmlformats.org/officeDocument/2006/relationships/slide" Target="/ppt/slides/slide7.xml" Id="R96f1678a56704819" /><Relationship Type="http://schemas.openxmlformats.org/officeDocument/2006/relationships/slide" Target="/ppt/slides/slide8.xml" Id="R6b07ee6d905d4a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103deb148644c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b8f42d34b84ffd" /><Relationship Type="http://schemas.openxmlformats.org/officeDocument/2006/relationships/notesMaster" Target="/ppt/notesMasters/notesMaster1.xml" Id="Re1eae825c16546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d10d254eeb414e" /><Relationship Type="http://schemas.openxmlformats.org/officeDocument/2006/relationships/notesMaster" Target="/ppt/notesMasters/notesMaster1.xml" Id="Rab0cd0df52034c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b16b3e592145ec" /><Relationship Type="http://schemas.openxmlformats.org/officeDocument/2006/relationships/notesMaster" Target="/ppt/notesMasters/notesMaster1.xml" Id="Reb748f839cf645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4a26c1ee4e4693" /><Relationship Type="http://schemas.openxmlformats.org/officeDocument/2006/relationships/notesMaster" Target="/ppt/notesMasters/notesMaster1.xml" Id="R772aa4351ed94f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85f96f48394ac1" /><Relationship Type="http://schemas.openxmlformats.org/officeDocument/2006/relationships/notesMaster" Target="/ppt/notesMasters/notesMaster1.xml" Id="R7803b5ec4e0249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13c768b03e4628" /><Relationship Type="http://schemas.openxmlformats.org/officeDocument/2006/relationships/notesMaster" Target="/ppt/notesMasters/notesMaster1.xml" Id="R25f2eee3b0cf44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27f9bee7be4647" /><Relationship Type="http://schemas.openxmlformats.org/officeDocument/2006/relationships/notesMaster" Target="/ppt/notesMasters/notesMaster1.xml" Id="Rced9600184e04e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4ac85290914adc" /><Relationship Type="http://schemas.openxmlformats.org/officeDocument/2006/relationships/notesMaster" Target="/ppt/notesMasters/notesMaster1.xml" Id="R16f7e7c2a78549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FareeqAI helps people work with specialized AI teammates for areas such as careers, studying, writing and fitness. Users can start as guests, chat with a teammate, upload documents and organize goals or plans. The website and Android application connect to the same backend, so registered users can access their saved work across clients.</a:t>
            </a:r>
          </a:p>
          <a:p xmlns:a="http://schemas.openxmlformats.org/drawingml/2006/main">
            <a:r>
              <a:t/>
            </a:r>
          </a:p>
          <a:p xmlns:a="http://schemas.openxmlformats.org/drawingml/2006/main">
            <a:r>
              <a:t>MUST REMEMBER</a:t>
            </a:r>
          </a:p>
          <a:p xmlns:a="http://schemas.openxmlformats.org/drawingml/2006/main">
            <a:r>
              <a:t>The website and Android app share the same backend.</a:t>
            </a:r>
          </a:p>
          <a:p xmlns:a="http://schemas.openxmlformats.org/drawingml/2006/main">
            <a:r>
              <a:t/>
            </a:r>
          </a:p>
          <a:p xmlns:a="http://schemas.openxmlformats.org/drawingml/2006/main">
            <a:r>
              <a:t>CODE SOURCES</a:t>
            </a:r>
          </a:p>
          <a:p xmlns:a="http://schemas.openxmlformats.org/drawingml/2006/main">
            <a:r>
              <a:t>README.md; backend/app/agents/registry.py; mobile/client/src/api/client.ts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React gives us reusable interface components, while Expo simplifies mobile development and Android builds. FastAPI organizes the Python API, and Pydantic validates inputs. PostgreSQL stores related data, with SQLAlchemy for access and Alembic for schema changes. GitHub tracks our code. Cloudflare and Netlify deliver the clients, DockHosting runs the API, and Neon hosts PostgreSQL.</a:t>
            </a:r>
          </a:p>
          <a:p xmlns:a="http://schemas.openxmlformats.org/drawingml/2006/main">
            <a:r>
              <a:t/>
            </a:r>
          </a:p>
          <a:p xmlns:a="http://schemas.openxmlformats.org/drawingml/2006/main">
            <a:r>
              <a:t>MUST REMEMBER</a:t>
            </a:r>
          </a:p>
          <a:p xmlns:a="http://schemas.openxmlformats.org/drawingml/2006/main">
            <a:r>
              <a:t>Groq generates replies. Docker packages the API. Expo EAS builds Android.</a:t>
            </a:r>
          </a:p>
          <a:p xmlns:a="http://schemas.openxmlformats.org/drawingml/2006/main">
            <a:r>
              <a:t/>
            </a:r>
          </a:p>
          <a:p xmlns:a="http://schemas.openxmlformats.org/drawingml/2006/main">
            <a:r>
              <a:t>CODE SOURCES</a:t>
            </a:r>
          </a:p>
          <a:p xmlns:a="http://schemas.openxmlformats.org/drawingml/2006/main">
            <a:r>
              <a:t>frontend/package.json; mobile/client/package.json; backend/app/main.py; backend/app/db/session.py; backend/Dockerfile; deploy/cloudflare-pages/_worker.js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The architecture has client interfaces, one shared backend, a database and an external AI provider. Cloudflare routes website pages to Next.js and API requests to FastAPI. FastAPI loads the required information, calls the AI provider and stores the result. SSE means server-sent events: the answer appears progressively instead of waiting for the complete response.</a:t>
            </a:r>
          </a:p>
          <a:p xmlns:a="http://schemas.openxmlformats.org/drawingml/2006/main">
            <a:r>
              <a:t/>
            </a:r>
          </a:p>
          <a:p xmlns:a="http://schemas.openxmlformats.org/drawingml/2006/main">
            <a:r>
              <a:t>MUST REMEMBER</a:t>
            </a:r>
          </a:p>
          <a:p xmlns:a="http://schemas.openxmlformats.org/drawingml/2006/main">
            <a:r>
              <a:t>One shared API connects both clients to data and the AI provider.</a:t>
            </a:r>
          </a:p>
          <a:p xmlns:a="http://schemas.openxmlformats.org/drawingml/2006/main">
            <a:r>
              <a:t/>
            </a:r>
          </a:p>
          <a:p xmlns:a="http://schemas.openxmlformats.org/drawingml/2006/main">
            <a:r>
              <a:t>CODE SOURCES</a:t>
            </a:r>
          </a:p>
          <a:p xmlns:a="http://schemas.openxmlformats.org/drawingml/2006/main">
            <a:r>
              <a:t>deploy/cloudflare-pages/_worker.js; backend/app/main.py; backend/app/api/routes/chat.py; backend/app/llm/provider.py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Each teammate has a configuration describing its role, behavior and prompt. The registry loads these definitions. The shared runtime then manages the conversation, sends the prepared request to the model and returns the answer incrementally. Adding a specialist mainly means adding its configuration. The AI comes from an existing model provider, rather than a model we trained ourselves.</a:t>
            </a:r>
          </a:p>
          <a:p xmlns:a="http://schemas.openxmlformats.org/drawingml/2006/main">
            <a:r>
              <a:t/>
            </a:r>
          </a:p>
          <a:p xmlns:a="http://schemas.openxmlformats.org/drawingml/2006/main">
            <a:r>
              <a:t>MUST REMEMBER</a:t>
            </a:r>
          </a:p>
          <a:p xmlns:a="http://schemas.openxmlformats.org/drawingml/2006/main">
            <a:r>
              <a:t>Ten teammates use one shared runtime, with different configurations.</a:t>
            </a:r>
          </a:p>
          <a:p xmlns:a="http://schemas.openxmlformats.org/drawingml/2006/main">
            <a:r>
              <a:t/>
            </a:r>
          </a:p>
          <a:p xmlns:a="http://schemas.openxmlformats.org/drawingml/2006/main">
            <a:r>
              <a:t>CODE SOURCES</a:t>
            </a:r>
          </a:p>
          <a:p xmlns:a="http://schemas.openxmlformats.org/drawingml/2006/main">
            <a:r>
              <a:t>backend/app/agents/registry.py; backend/app/agents/runtime.py; backend/app/llm/provider.py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Context is the information supplied to the model before it answers. We combine the agent’s instructions with relevant conversation history, memories and goals. Shared facts and specialist-specific memory live separately. The context builder limits what each agent receives. After a reply, optional analysis can extract eligible facts for future conversations. This changes stored context, not the model’s training.</a:t>
            </a:r>
          </a:p>
          <a:p xmlns:a="http://schemas.openxmlformats.org/drawingml/2006/main">
            <a:r>
              <a:t/>
            </a:r>
          </a:p>
          <a:p xmlns:a="http://schemas.openxmlformats.org/drawingml/2006/main">
            <a:r>
              <a:t>MUST REMEMBER</a:t>
            </a:r>
          </a:p>
          <a:p xmlns:a="http://schemas.openxmlformats.org/drawingml/2006/main">
            <a:r>
              <a:t>A specialist does not receive another agent’s raw conversation history.</a:t>
            </a:r>
          </a:p>
          <a:p xmlns:a="http://schemas.openxmlformats.org/drawingml/2006/main">
            <a:r>
              <a:t/>
            </a:r>
          </a:p>
          <a:p xmlns:a="http://schemas.openxmlformats.org/drawingml/2006/main">
            <a:r>
              <a:t>CODE SOURCES</a:t>
            </a:r>
          </a:p>
          <a:p xmlns:a="http://schemas.openxmlformats.org/drawingml/2006/main">
            <a:r>
              <a:t>backend/app/agents/context.py; backend/app/memory/service.py; backend/app/memory/llm_extraction.py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When a user uploads a document, we extract its text and divide it into smaller passages called chunks. BM25 finds keyword matches. Optional embeddings, numerical representations of meaning, help find similar ideas. We merge the two rankings and supply relevant passages to the model. This is retrieval-augmented generation, or RAG: answering with retrieved information.</a:t>
            </a:r>
          </a:p>
          <a:p xmlns:a="http://schemas.openxmlformats.org/drawingml/2006/main">
            <a:r>
              <a:t/>
            </a:r>
          </a:p>
          <a:p xmlns:a="http://schemas.openxmlformats.org/drawingml/2006/main">
            <a:r>
              <a:t>MUST REMEMBER</a:t>
            </a:r>
          </a:p>
          <a:p xmlns:a="http://schemas.openxmlformats.org/drawingml/2006/main">
            <a:r>
              <a:t>Relevant passages enter the prompt. Embeddings run locally.</a:t>
            </a:r>
          </a:p>
          <a:p xmlns:a="http://schemas.openxmlformats.org/drawingml/2006/main">
            <a:r>
              <a:t/>
            </a:r>
          </a:p>
          <a:p xmlns:a="http://schemas.openxmlformats.org/drawingml/2006/main">
            <a:r>
              <a:t>CODE SOURCES</a:t>
            </a:r>
          </a:p>
          <a:p xmlns:a="http://schemas.openxmlformats.org/drawingml/2006/main">
            <a:r>
              <a:t>backend/app/documents/service.py; backend/app/documents/parse.py; backend/app/documents/retrieval.py; backend/app/documents/embedding.py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Guest access still creates an isolated identity, so visitors do not share one workspace. Browser sessions use HttpOnly cookies, which page JavaScript cannot read. Android keeps its signed access token in SecureStore, protected device storage. The backend checks the session and record ownership before serving private data. Optional two-factor authentication adds another check during sign-in.</a:t>
            </a:r>
          </a:p>
          <a:p xmlns:a="http://schemas.openxmlformats.org/drawingml/2006/main">
            <a:r>
              <a:t/>
            </a:r>
          </a:p>
          <a:p xmlns:a="http://schemas.openxmlformats.org/drawingml/2006/main">
            <a:r>
              <a:t>MUST REMEMBER</a:t>
            </a:r>
          </a:p>
          <a:p xmlns:a="http://schemas.openxmlformats.org/drawingml/2006/main">
            <a:r>
              <a:t>The backend checks ownership before returning private data.</a:t>
            </a:r>
          </a:p>
          <a:p xmlns:a="http://schemas.openxmlformats.org/drawingml/2006/main">
            <a:r>
              <a:t/>
            </a:r>
          </a:p>
          <a:p xmlns:a="http://schemas.openxmlformats.org/drawingml/2006/main">
            <a:r>
              <a:t>CODE SOURCES</a:t>
            </a:r>
          </a:p>
          <a:p xmlns:a="http://schemas.openxmlformats.org/drawingml/2006/main">
            <a:r>
              <a:t>backend/app/core/auth.py; backend/app/core/sessions.py; backend/app/api/deps.py; mobile/client/src/api/client.ts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20–30 SECOND SCRIPT</a:t>
            </a:r>
          </a:p>
          <a:p xmlns:a="http://schemas.openxmlformats.org/drawingml/2006/main">
            <a:r>
              <a:t/>
            </a:r>
          </a:p>
          <a:p xmlns:a="http://schemas.openxmlformats.org/drawingml/2006/main">
            <a:r>
              <a:t>First, I upload my CV for Harvey and wait until processing finishes. When I ask for interview preparation, the backend validates my session and conversation. It retrieves relevant CV passages and combines them with Harvey’s instructions and permitted context. The AI provider generates a reply, which streams to the screen and is saved. Eligible memory updates can follow afterward.</a:t>
            </a:r>
          </a:p>
          <a:p xmlns:a="http://schemas.openxmlformats.org/drawingml/2006/main">
            <a:r>
              <a:t/>
            </a:r>
          </a:p>
          <a:p xmlns:a="http://schemas.openxmlformats.org/drawingml/2006/main">
            <a:r>
              <a:t>MUST REMEMBER</a:t>
            </a:r>
          </a:p>
          <a:p xmlns:a="http://schemas.openxmlformats.org/drawingml/2006/main">
            <a:r>
              <a:t>The reply streams to the screen and is saved in the database.</a:t>
            </a:r>
          </a:p>
          <a:p xmlns:a="http://schemas.openxmlformats.org/drawingml/2006/main">
            <a:r>
              <a:t/>
            </a:r>
          </a:p>
          <a:p xmlns:a="http://schemas.openxmlformats.org/drawingml/2006/main">
            <a:r>
              <a:t>CODE SOURCES</a:t>
            </a:r>
          </a:p>
          <a:p xmlns:a="http://schemas.openxmlformats.org/drawingml/2006/main">
            <a:r>
              <a:t>backend/app/api/routes/documents.py; backend/app/api/routes/chat.py; backend/app/agents/runtime.py; backend/app/documents/retrieval.py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32c74c737143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bbbe3e684943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984ef9e9774e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201aa7e16a4c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de3a380aaa84d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061abed24344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57FADD-09A6-4F2C-9259-3AE3A1EED2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FB3955-6F36-48D2-9C32-CD42B3A7118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D1E568-737D-4913-B1FB-8747B58CF32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CF57EBF-E608-4F4E-AE6A-CB3BEFA4F9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20E8BD-15E9-46CC-B477-42946BAB435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1B4B21-D22F-485C-8ECD-4D95E4B945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139EDC-EB36-4476-8D4E-6B3503D8F5A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82D14C-3BEE-4E33-AE6D-8B073B1EC1E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0C0D80-8637-40C8-B1BD-610F8C6C00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979954-E176-4AD3-9ED7-59A15BD859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340a08b8234fde" /><Relationship Type="http://schemas.openxmlformats.org/officeDocument/2006/relationships/slideLayout" Target="/ppt/slideLayouts/slideLayout1.xml" Id="Rb6882ca6c2af46e3" /><Relationship Type="http://schemas.openxmlformats.org/officeDocument/2006/relationships/slideLayout" Target="/ppt/slideLayouts/slideLayout2.xml" Id="R103ce992a7fe4356" /><Relationship Type="http://schemas.openxmlformats.org/officeDocument/2006/relationships/slideLayout" Target="/ppt/slideLayouts/slideLayout3.xml" Id="Rdb64ed5496bd4928" /><Relationship Type="http://schemas.openxmlformats.org/officeDocument/2006/relationships/slideLayout" Target="/ppt/slideLayouts/slideLayout4.xml" Id="Rb3e2e9f9cd284b6c" /><Relationship Type="http://schemas.openxmlformats.org/officeDocument/2006/relationships/slideLayout" Target="/ppt/slideLayouts/slideLayout5.xml" Id="R72ae41a118034ac5" /><Relationship Type="http://schemas.openxmlformats.org/officeDocument/2006/relationships/slideLayout" Target="/ppt/slideLayouts/slideLayout6.xml" Id="R8f534dbc169449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882ca6c2af46e3"/>
    <p:sldLayoutId xmlns:r="http://schemas.openxmlformats.org/officeDocument/2006/relationships" id="2147483650" r:id="R103ce992a7fe4356"/>
    <p:sldLayoutId xmlns:r="http://schemas.openxmlformats.org/officeDocument/2006/relationships" id="2147483651" r:id="Rdb64ed5496bd4928"/>
    <p:sldLayoutId xmlns:r="http://schemas.openxmlformats.org/officeDocument/2006/relationships" id="2147483652" r:id="Rb3e2e9f9cd284b6c"/>
    <p:sldLayoutId xmlns:r="http://schemas.openxmlformats.org/officeDocument/2006/relationships" id="2147483653" r:id="R72ae41a118034ac5"/>
    <p:sldLayoutId xmlns:r="http://schemas.openxmlformats.org/officeDocument/2006/relationships" id="2147483654" r:id="R8f534dbc169449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69b71e935c4276" /><Relationship Type="http://schemas.openxmlformats.org/officeDocument/2006/relationships/notesSlide" Target="/ppt/notesSlides/notesSlide1.xml" Id="Re803b11b0fe248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c87e944a6c74f34" /><Relationship Type="http://schemas.openxmlformats.org/officeDocument/2006/relationships/notesSlide" Target="/ppt/notesSlides/notesSlide2.xml" Id="R4ac5d949bb4643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c87b45013640cb" /><Relationship Type="http://schemas.openxmlformats.org/officeDocument/2006/relationships/notesSlide" Target="/ppt/notesSlides/notesSlide3.xml" Id="Re7ef00886d4746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9ff74b845640c1" /><Relationship Type="http://schemas.openxmlformats.org/officeDocument/2006/relationships/notesSlide" Target="/ppt/notesSlides/notesSlide4.xml" Id="Rdb204495a6394d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8796c86a0c48a6" /><Relationship Type="http://schemas.openxmlformats.org/officeDocument/2006/relationships/notesSlide" Target="/ppt/notesSlides/notesSlide5.xml" Id="R408b31cb749f4b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6043ac25194c3b" /><Relationship Type="http://schemas.openxmlformats.org/officeDocument/2006/relationships/notesSlide" Target="/ppt/notesSlides/notesSlide6.xml" Id="R9e69762602c641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a36efcacea4775" /><Relationship Type="http://schemas.openxmlformats.org/officeDocument/2006/relationships/notesSlide" Target="/ppt/notesSlides/notesSlide7.xml" Id="R162223348a384b2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ffa4efc15d4acf" /><Relationship Type="http://schemas.openxmlformats.org/officeDocument/2006/relationships/notesSlide" Target="/ppt/notesSlides/notesSlide8.xml" Id="Re1035d742924435c" /></Relationships>
</file>

<file path=ppt/slides/slide1.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C52D1-B512-4504-96B0-AF3D3EB5AF7D}"/>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123044"/>
                </a:solidFill>
                <a:latin typeface="Arial"/>
                <a:ea typeface="Arial"/>
                <a:cs typeface="Arial"/>
              </a:defRPr>
            </a:defPPr>
            <a:lvl1pPr>
              <a:defRPr sz="4500" b="1">
                <a:solidFill>
                  <a:srgbClr val="123044"/>
                </a:solidFill>
                <a:latin typeface="Arial"/>
                <a:ea typeface="Arial"/>
                <a:cs typeface="Arial"/>
              </a:defRPr>
            </a:lvl1pPr>
            <a:lvl2pPr>
              <a:defRPr sz="4500" b="1">
                <a:solidFill>
                  <a:srgbClr val="123044"/>
                </a:solidFill>
                <a:latin typeface="Arial"/>
                <a:ea typeface="Arial"/>
                <a:cs typeface="Arial"/>
              </a:defRPr>
            </a:lvl2pPr>
            <a:lvl3pPr>
              <a:defRPr sz="4500" b="1">
                <a:solidFill>
                  <a:srgbClr val="123044"/>
                </a:solidFill>
                <a:latin typeface="Arial"/>
                <a:ea typeface="Arial"/>
                <a:cs typeface="Arial"/>
              </a:defRPr>
            </a:lvl3pPr>
            <a:lvl4pPr>
              <a:defRPr sz="4500" b="1">
                <a:solidFill>
                  <a:srgbClr val="123044"/>
                </a:solidFill>
                <a:latin typeface="Arial"/>
                <a:ea typeface="Arial"/>
                <a:cs typeface="Arial"/>
              </a:defRPr>
            </a:lvl4pPr>
            <a:lvl5pPr>
              <a:defRPr sz="4500" b="1">
                <a:solidFill>
                  <a:srgbClr val="123044"/>
                </a:solidFill>
                <a:latin typeface="Arial"/>
                <a:ea typeface="Arial"/>
                <a:cs typeface="Arial"/>
              </a:defRPr>
            </a:lvl5pPr>
            <a:lvl6pPr>
              <a:defRPr sz="4500" b="1">
                <a:solidFill>
                  <a:srgbClr val="123044"/>
                </a:solidFill>
                <a:latin typeface="Arial"/>
                <a:ea typeface="Arial"/>
                <a:cs typeface="Arial"/>
              </a:defRPr>
            </a:lvl6pPr>
            <a:lvl7pPr>
              <a:defRPr sz="4500" b="1">
                <a:solidFill>
                  <a:srgbClr val="123044"/>
                </a:solidFill>
                <a:latin typeface="Arial"/>
                <a:ea typeface="Arial"/>
                <a:cs typeface="Arial"/>
              </a:defRPr>
            </a:lvl7pPr>
            <a:lvl8pPr>
              <a:defRPr sz="4500" b="1">
                <a:solidFill>
                  <a:srgbClr val="123044"/>
                </a:solidFill>
                <a:latin typeface="Arial"/>
                <a:ea typeface="Arial"/>
                <a:cs typeface="Arial"/>
              </a:defRPr>
            </a:lvl8pPr>
            <a:lvl9pPr>
              <a:defRPr sz="4500" b="1">
                <a:solidFill>
                  <a:srgbClr val="123044"/>
                </a:solidFill>
                <a:latin typeface="Arial"/>
                <a:ea typeface="Arial"/>
                <a:cs typeface="Arial"/>
              </a:defRPr>
            </a:lvl9pPr>
          </a:lstStyle>
          <a:p xmlns:a="http://schemas.openxmlformats.org/drawingml/2006/main">
            <a:pPr>
              <a:defRPr sz="4500" b="1">
                <a:solidFill>
                  <a:srgbClr val="123044"/>
                </a:solidFill>
                <a:latin typeface="Arial"/>
                <a:ea typeface="Arial"/>
                <a:cs typeface="Arial"/>
              </a:defRPr>
            </a:pPr>
            <a:r>
              <a:rPr sz="4500" b="1">
                <a:solidFill>
                  <a:srgbClr val="123044"/>
                </a:solidFill>
                <a:latin typeface="Arial"/>
                <a:ea typeface="Arial"/>
                <a:cs typeface="Arial"/>
              </a:rPr>
              <a:t>FareeqAI</a:t>
            </a:r>
          </a:p>
        </p:txBody>
      </p:sp>
      <p:sp>
        <p:nvSpPr>
          <p:cNvPr id="2" name="">
            <a:extLst xmlns:a="http://schemas.openxmlformats.org/drawingml/2006/main">
              <a:ext uri="{FF2B5EF4-FFF2-40B4-BE49-F238E27FC236}">
                <a16:creationId xmlns:a16="http://schemas.microsoft.com/office/drawing/2014/main" id="{AB08D037-C267-4CBD-A5A6-E8B842A08581}"/>
              </a:ext>
            </a:extLst>
          </p:cNvPr>
          <p:cNvSpPr>
            <a:spLocks xmlns:a="http://schemas.openxmlformats.org/drawingml/2006/main" noGrp="1"/>
          </p:cNvSpPr>
          <p:nvPr/>
        </p:nvSpPr>
        <p:spPr>
          <a:xfrm xmlns:a="http://schemas.openxmlformats.org/drawingml/2006/main">
            <a:off x="628650" y="119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Project objectives and main features</a:t>
            </a:r>
          </a:p>
        </p:txBody>
      </p:sp>
      <p:sp>
        <p:nvSpPr>
          <p:cNvPr id="3" name="">
            <a:extLst xmlns:a="http://schemas.openxmlformats.org/drawingml/2006/main">
              <a:ext uri="{FF2B5EF4-FFF2-40B4-BE49-F238E27FC236}">
                <a16:creationId xmlns:a16="http://schemas.microsoft.com/office/drawing/2014/main" id="{154FA08A-EB5F-450E-A9FA-B98083430EA3}"/>
              </a:ext>
            </a:extLst>
          </p:cNvPr>
          <p:cNvSpPr>
            <a:spLocks xmlns:a="http://schemas.openxmlformats.org/drawingml/2006/main" noGrp="1"/>
          </p:cNvSpPr>
          <p:nvPr/>
        </p:nvSpPr>
        <p:spPr>
          <a:xfrm xmlns:a="http://schemas.openxmlformats.org/drawingml/2006/main">
            <a:off x="628650" y="19716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A personal AI team: Leo and nine specialists.</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Chat, ask questions about documents and save useful replies.</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Use memories, goals and plans to continue work over time.</a:t>
            </a:r>
          </a:p>
        </p:txBody>
      </p:sp>
      <p:sp>
        <p:nvSpPr>
          <p:cNvPr id="4" name="">
            <a:extLst xmlns:a="http://schemas.openxmlformats.org/drawingml/2006/main">
              <a:ext uri="{FF2B5EF4-FFF2-40B4-BE49-F238E27FC236}">
                <a16:creationId xmlns:a16="http://schemas.microsoft.com/office/drawing/2014/main" id="{84584569-3C2A-453C-8E17-9DCC4618ECAA}"/>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5" name="">
            <a:extLst xmlns:a="http://schemas.openxmlformats.org/drawingml/2006/main">
              <a:ext uri="{FF2B5EF4-FFF2-40B4-BE49-F238E27FC236}">
                <a16:creationId xmlns:a16="http://schemas.microsoft.com/office/drawing/2014/main" id="{B487A3AA-0501-4BE9-B877-01E9B2AA2770}"/>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The website and Android app share the same backend.</a:t>
            </a:r>
          </a:p>
        </p:txBody>
      </p:sp>
      <p:sp>
        <p:nvSpPr>
          <p:cNvPr id="6" name="">
            <a:extLst xmlns:a="http://schemas.openxmlformats.org/drawingml/2006/main">
              <a:ext uri="{FF2B5EF4-FFF2-40B4-BE49-F238E27FC236}">
                <a16:creationId xmlns:a16="http://schemas.microsoft.com/office/drawing/2014/main" id="{AF1FF601-346C-4A34-99D8-657E3BD2EE61}"/>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1 / 8</a:t>
            </a:r>
          </a:p>
        </p:txBody>
      </p:sp>
    </p:spTree>
    <p:extLst>
      <p:ext uri="{BB962C8B-B14F-4D97-AF65-F5344CB8AC3E}">
        <p14:creationId xmlns:p14="http://schemas.microsoft.com/office/powerpoint/2010/main" val="810552828"/>
      </p:ext>
    </p:extLst>
  </p:cSld>
</p:sld>
</file>

<file path=ppt/slides/slide2.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FE9D4D-3AF2-40A1-9339-F33717C1A13D}"/>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A30DD8EF-DA06-4637-A6C0-5DDCE885C865}"/>
              </a:ext>
            </a:extLst>
          </p:cNvPr>
          <p:cNvSpPr>
            <a:spLocks xmlns:a="http://schemas.openxmlformats.org/drawingml/2006/main" noGrp="1"/>
          </p:cNvSpPr>
          <p:nvPr/>
        </p:nvSpPr>
        <p:spPr>
          <a:xfrm xmlns:a="http://schemas.openxmlformats.org/drawingml/2006/main">
            <a:off x="628650" y="17811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TypeScript: Next.js / React for web, Expo / React Native for mobile.</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Python: FastAPI serves requests. Pydantic validates input.</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PostgreSQL stores data. SQLAlchemy accesses it. Alembic updates tables.</a:t>
            </a:r>
          </a:p>
        </p:txBody>
      </p:sp>
      <p:sp>
        <p:nvSpPr>
          <p:cNvPr id="3" name="">
            <a:extLst xmlns:a="http://schemas.openxmlformats.org/drawingml/2006/main">
              <a:ext uri="{FF2B5EF4-FFF2-40B4-BE49-F238E27FC236}">
                <a16:creationId xmlns:a16="http://schemas.microsoft.com/office/drawing/2014/main" id="{57CC084D-25D7-4116-9FF1-072E54A5C336}"/>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4" name="">
            <a:extLst xmlns:a="http://schemas.openxmlformats.org/drawingml/2006/main">
              <a:ext uri="{FF2B5EF4-FFF2-40B4-BE49-F238E27FC236}">
                <a16:creationId xmlns:a16="http://schemas.microsoft.com/office/drawing/2014/main" id="{E9B97887-768E-4E38-A0CD-3B87C15C71C8}"/>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Groq generates replies. Docker packages the API. Expo EAS builds Android.</a:t>
            </a:r>
          </a:p>
        </p:txBody>
      </p:sp>
      <p:sp>
        <p:nvSpPr>
          <p:cNvPr id="5" name="">
            <a:extLst xmlns:a="http://schemas.openxmlformats.org/drawingml/2006/main">
              <a:ext uri="{FF2B5EF4-FFF2-40B4-BE49-F238E27FC236}">
                <a16:creationId xmlns:a16="http://schemas.microsoft.com/office/drawing/2014/main" id="{0E85FCF4-D827-4EFE-BD77-48D62CE2C83C}"/>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2 / 8</a:t>
            </a:r>
          </a:p>
        </p:txBody>
      </p:sp>
    </p:spTree>
    <p:extLst>
      <p:ext uri="{BB962C8B-B14F-4D97-AF65-F5344CB8AC3E}">
        <p14:creationId xmlns:p14="http://schemas.microsoft.com/office/powerpoint/2010/main" val="2087539567"/>
      </p:ext>
    </p:extLst>
  </p:cSld>
</p:sld>
</file>

<file path=ppt/slides/slide3.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F07FE4B-7062-48B9-AC4D-568F4CF126AF}"/>
              </a:ext>
            </a:extLst>
          </p:cNvPr>
          <p:cNvCxnSpPr>
            <a:stCxn xmlns:a="http://schemas.openxmlformats.org/drawingml/2006/main" id="4" idx="2"/>
            <a:endCxn xmlns:a="http://schemas.openxmlformats.org/drawingml/2006/main" id="7" idx="0"/>
          </p:cNvCxnSpPr>
          <p:nvPr/>
        </p:nvCxnSpPr>
        <p:spPr>
          <a:xfrm xmlns:a="http://schemas.openxmlformats.org/drawingml/2006/main">
            <a:off x="7310438" y="2619375"/>
            <a:ext cx="0" cy="714375"/>
          </a:xfrm>
          <a:prstGeom xmlns:a="http://schemas.openxmlformats.org/drawingml/2006/main" prst="straightConnector1">
            <a:avLst/>
          </a:prstGeom>
          <a:ln xmlns:a="http://schemas.openxmlformats.org/drawingml/2006/main" w="19050">
            <a:solidFill>
              <a:srgbClr val="123044"/>
            </a:solidFill>
            <a:headEnd type="arrow" w="med" len="med"/>
            <a:tailEnd type="arrow" w="med" len="med"/>
          </a:ln>
        </p:spPr>
      </p:cxnSp>
      <p:cxnSp>
        <p:nvCxnSpPr>
          <p:cNvPr id="11" name="">
            <a:extLst xmlns:a="http://schemas.openxmlformats.org/drawingml/2006/main">
              <a:ext uri="{FF2B5EF4-FFF2-40B4-BE49-F238E27FC236}">
                <a16:creationId xmlns:a16="http://schemas.microsoft.com/office/drawing/2014/main" id="{7368BC8D-30D5-45E2-A8D5-B3E27CCE5F65}"/>
              </a:ext>
            </a:extLst>
          </p:cNvPr>
          <p:cNvCxnSpPr>
            <a:stCxn xmlns:a="http://schemas.openxmlformats.org/drawingml/2006/main" id="3" idx="2"/>
            <a:endCxn xmlns:a="http://schemas.openxmlformats.org/drawingml/2006/main" id="6" idx="0"/>
          </p:cNvCxnSpPr>
          <p:nvPr/>
        </p:nvCxnSpPr>
        <p:spPr>
          <a:xfrm xmlns:a="http://schemas.openxmlformats.org/drawingml/2006/main">
            <a:off x="4557713" y="2619375"/>
            <a:ext cx="0" cy="714375"/>
          </a:xfrm>
          <a:prstGeom xmlns:a="http://schemas.openxmlformats.org/drawingml/2006/main" prst="straightConnector1">
            <a:avLst/>
          </a:prstGeom>
          <a:ln xmlns:a="http://schemas.openxmlformats.org/drawingml/2006/main" w="19050">
            <a:solidFill>
              <a:srgbClr val="123044"/>
            </a:solidFill>
            <a:headEnd type="arrow" w="med" len="med"/>
            <a:tailEnd type="arrow" w="med" len="med"/>
          </a:ln>
        </p:spPr>
      </p:cxnSp>
      <p:cxnSp>
        <p:nvCxnSpPr>
          <p:cNvPr id="10" name="">
            <a:extLst xmlns:a="http://schemas.openxmlformats.org/drawingml/2006/main">
              <a:ext uri="{FF2B5EF4-FFF2-40B4-BE49-F238E27FC236}">
                <a16:creationId xmlns:a16="http://schemas.microsoft.com/office/drawing/2014/main" id="{2B7CD2C9-F216-42BD-9164-7DC072DB43A1}"/>
              </a:ext>
            </a:extLst>
          </p:cNvPr>
          <p:cNvCxnSpPr>
            <a:stCxn xmlns:a="http://schemas.openxmlformats.org/drawingml/2006/main" id="4" idx="3"/>
            <a:endCxn xmlns:a="http://schemas.openxmlformats.org/drawingml/2006/main" id="5" idx="1"/>
          </p:cNvCxnSpPr>
          <p:nvPr/>
        </p:nvCxnSpPr>
        <p:spPr>
          <a:xfrm xmlns:a="http://schemas.openxmlformats.org/drawingml/2006/main">
            <a:off x="8382000" y="2190750"/>
            <a:ext cx="619125" cy="0"/>
          </a:xfrm>
          <a:prstGeom xmlns:a="http://schemas.openxmlformats.org/drawingml/2006/main" prst="straightConnector1">
            <a:avLst/>
          </a:prstGeom>
          <a:ln xmlns:a="http://schemas.openxmlformats.org/drawingml/2006/main" w="19050">
            <a:solidFill>
              <a:srgbClr val="123044"/>
            </a:solidFill>
            <a:headEnd type="arrow" w="med" len="med"/>
            <a:tailEnd type="arrow" w="med" len="med"/>
          </a:ln>
        </p:spPr>
      </p:cxnSp>
      <p:cxnSp>
        <p:nvCxnSpPr>
          <p:cNvPr id="9" name="">
            <a:extLst xmlns:a="http://schemas.openxmlformats.org/drawingml/2006/main">
              <a:ext uri="{FF2B5EF4-FFF2-40B4-BE49-F238E27FC236}">
                <a16:creationId xmlns:a16="http://schemas.microsoft.com/office/drawing/2014/main" id="{4AA3656E-1C72-4284-BB91-4683A87263A9}"/>
              </a:ext>
            </a:extLst>
          </p:cNvPr>
          <p:cNvCxnSpPr>
            <a:stCxn xmlns:a="http://schemas.openxmlformats.org/drawingml/2006/main" id="3" idx="3"/>
            <a:endCxn xmlns:a="http://schemas.openxmlformats.org/drawingml/2006/main" id="4" idx="1"/>
          </p:cNvCxnSpPr>
          <p:nvPr/>
        </p:nvCxnSpPr>
        <p:spPr>
          <a:xfrm xmlns:a="http://schemas.openxmlformats.org/drawingml/2006/main">
            <a:off x="5629275" y="2190750"/>
            <a:ext cx="609600" cy="0"/>
          </a:xfrm>
          <a:prstGeom xmlns:a="http://schemas.openxmlformats.org/drawingml/2006/main" prst="straightConnector1">
            <a:avLst/>
          </a:prstGeom>
          <a:ln xmlns:a="http://schemas.openxmlformats.org/drawingml/2006/main" w="19050">
            <a:solidFill>
              <a:srgbClr val="123044"/>
            </a:solidFill>
            <a:headEnd type="arrow" w="med" len="med"/>
            <a:tailEnd type="arrow" w="med" len="med"/>
          </a:ln>
        </p:spPr>
      </p:cxnSp>
      <p:cxnSp>
        <p:nvCxnSpPr>
          <p:cNvPr id="8" name="">
            <a:extLst xmlns:a="http://schemas.openxmlformats.org/drawingml/2006/main">
              <a:ext uri="{FF2B5EF4-FFF2-40B4-BE49-F238E27FC236}">
                <a16:creationId xmlns:a16="http://schemas.microsoft.com/office/drawing/2014/main" id="{9F81D9EC-80DE-460A-8930-ED6EB962E2F4}"/>
              </a:ext>
            </a:extLst>
          </p:cNvPr>
          <p:cNvCxnSpPr>
            <a:stCxn xmlns:a="http://schemas.openxmlformats.org/drawingml/2006/main" id="2" idx="3"/>
            <a:endCxn xmlns:a="http://schemas.openxmlformats.org/drawingml/2006/main" id="3" idx="1"/>
          </p:cNvCxnSpPr>
          <p:nvPr/>
        </p:nvCxnSpPr>
        <p:spPr>
          <a:xfrm xmlns:a="http://schemas.openxmlformats.org/drawingml/2006/main">
            <a:off x="2895600" y="2190750"/>
            <a:ext cx="590550" cy="0"/>
          </a:xfrm>
          <a:prstGeom xmlns:a="http://schemas.openxmlformats.org/drawingml/2006/main" prst="straightConnector1">
            <a:avLst/>
          </a:prstGeom>
          <a:ln xmlns:a="http://schemas.openxmlformats.org/drawingml/2006/main" w="19050">
            <a:solidFill>
              <a:srgbClr val="123044"/>
            </a:solidFill>
            <a:headEnd type="arrow" w="med" len="med"/>
            <a:tailEnd type="arrow" w="med" len="med"/>
          </a:ln>
        </p:spPr>
      </p:cxnSp>
      <p:sp>
        <p:nvSpPr>
          <p:cNvPr id="21" name="">
            <a:extLst xmlns:a="http://schemas.openxmlformats.org/drawingml/2006/main">
              <a:ext uri="{FF2B5EF4-FFF2-40B4-BE49-F238E27FC236}">
                <a16:creationId xmlns:a16="http://schemas.microsoft.com/office/drawing/2014/main" id="{102A7858-C89B-4D5D-8F16-CB7063974D0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7EC7DD49-8D46-490E-9CD4-AACF1B8FED07}"/>
              </a:ext>
            </a:extLst>
          </p:cNvPr>
          <p:cNvSpPr>
            <a:spLocks xmlns:a="http://schemas.openxmlformats.org/drawingml/2006/main" noGrp="1"/>
          </p:cNvSpPr>
          <p:nvPr/>
        </p:nvSpPr>
        <p:spPr>
          <a:xfrm xmlns:a="http://schemas.openxmlformats.org/drawingml/2006/main">
            <a:off x="609600" y="1762125"/>
            <a:ext cx="22860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123044"/>
            </a:solidFill>
          </a:ln>
        </p:spPr>
        <p:txBody>
          <a:bodyPr xmlns:a="http://schemas.openxmlformats.org/drawingml/2006/main" anchor="ctr"/>
          <a:lstStyle xmlns:a="http://schemas.openxmlformats.org/drawingml/2006/main">
            <a:defPPr algn="ctr">
              <a:defRPr sz="1800" b="1">
                <a:solidFill>
                  <a:srgbClr val="123044"/>
                </a:solidFill>
                <a:latin typeface="Arial"/>
                <a:ea typeface="Arial"/>
                <a:cs typeface="Arial"/>
              </a:defRPr>
            </a:defPPr>
            <a:lvl1pPr algn="ctr">
              <a:defRPr sz="1800" b="1">
                <a:solidFill>
                  <a:srgbClr val="123044"/>
                </a:solidFill>
                <a:latin typeface="Arial"/>
                <a:ea typeface="Arial"/>
                <a:cs typeface="Arial"/>
              </a:defRPr>
            </a:lvl1pPr>
            <a:lvl2pPr algn="ctr">
              <a:defRPr sz="1800" b="1">
                <a:solidFill>
                  <a:srgbClr val="123044"/>
                </a:solidFill>
                <a:latin typeface="Arial"/>
                <a:ea typeface="Arial"/>
                <a:cs typeface="Arial"/>
              </a:defRPr>
            </a:lvl2pPr>
            <a:lvl3pPr algn="ctr">
              <a:defRPr sz="1800" b="1">
                <a:solidFill>
                  <a:srgbClr val="123044"/>
                </a:solidFill>
                <a:latin typeface="Arial"/>
                <a:ea typeface="Arial"/>
                <a:cs typeface="Arial"/>
              </a:defRPr>
            </a:lvl3pPr>
            <a:lvl4pPr algn="ctr">
              <a:defRPr sz="1800" b="1">
                <a:solidFill>
                  <a:srgbClr val="123044"/>
                </a:solidFill>
                <a:latin typeface="Arial"/>
                <a:ea typeface="Arial"/>
                <a:cs typeface="Arial"/>
              </a:defRPr>
            </a:lvl4pPr>
            <a:lvl5pPr algn="ctr">
              <a:defRPr sz="1800" b="1">
                <a:solidFill>
                  <a:srgbClr val="123044"/>
                </a:solidFill>
                <a:latin typeface="Arial"/>
                <a:ea typeface="Arial"/>
                <a:cs typeface="Arial"/>
              </a:defRPr>
            </a:lvl5pPr>
            <a:lvl6pPr algn="ctr">
              <a:defRPr sz="1800" b="1">
                <a:solidFill>
                  <a:srgbClr val="123044"/>
                </a:solidFill>
                <a:latin typeface="Arial"/>
                <a:ea typeface="Arial"/>
                <a:cs typeface="Arial"/>
              </a:defRPr>
            </a:lvl6pPr>
            <a:lvl7pPr algn="ctr">
              <a:defRPr sz="1800" b="1">
                <a:solidFill>
                  <a:srgbClr val="123044"/>
                </a:solidFill>
                <a:latin typeface="Arial"/>
                <a:ea typeface="Arial"/>
                <a:cs typeface="Arial"/>
              </a:defRPr>
            </a:lvl7pPr>
            <a:lvl8pPr algn="ctr">
              <a:defRPr sz="1800" b="1">
                <a:solidFill>
                  <a:srgbClr val="123044"/>
                </a:solidFill>
                <a:latin typeface="Arial"/>
                <a:ea typeface="Arial"/>
                <a:cs typeface="Arial"/>
              </a:defRPr>
            </a:lvl8pPr>
            <a:lvl9pPr algn="ctr">
              <a:defRPr sz="1800" b="1">
                <a:solidFill>
                  <a:srgbClr val="123044"/>
                </a:solidFill>
                <a:latin typeface="Arial"/>
                <a:ea typeface="Arial"/>
                <a:cs typeface="Arial"/>
              </a:defRPr>
            </a:lvl9pPr>
          </a:lstStyle>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Web / Android / Safari</a:t>
            </a:r>
          </a:p>
        </p:txBody>
      </p:sp>
      <p:sp>
        <p:nvSpPr>
          <p:cNvPr id="3" name="">
            <a:extLst xmlns:a="http://schemas.openxmlformats.org/drawingml/2006/main">
              <a:ext uri="{FF2B5EF4-FFF2-40B4-BE49-F238E27FC236}">
                <a16:creationId xmlns:a16="http://schemas.microsoft.com/office/drawing/2014/main" id="{898AA4E2-9E1D-4896-962C-FA6BE2291D9E}"/>
              </a:ext>
            </a:extLst>
          </p:cNvPr>
          <p:cNvSpPr>
            <a:spLocks xmlns:a="http://schemas.openxmlformats.org/drawingml/2006/main" noGrp="1"/>
          </p:cNvSpPr>
          <p:nvPr/>
        </p:nvSpPr>
        <p:spPr>
          <a:xfrm xmlns:a="http://schemas.openxmlformats.org/drawingml/2006/main">
            <a:off x="3486150" y="1762125"/>
            <a:ext cx="21431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123044"/>
            </a:solidFill>
          </a:ln>
        </p:spPr>
        <p:txBody>
          <a:bodyPr xmlns:a="http://schemas.openxmlformats.org/drawingml/2006/main" anchor="ctr"/>
          <a:lstStyle xmlns:a="http://schemas.openxmlformats.org/drawingml/2006/main">
            <a:defPPr algn="ctr">
              <a:defRPr sz="1800" b="1">
                <a:solidFill>
                  <a:srgbClr val="123044"/>
                </a:solidFill>
                <a:latin typeface="Arial"/>
                <a:ea typeface="Arial"/>
                <a:cs typeface="Arial"/>
              </a:defRPr>
            </a:defPPr>
            <a:lvl1pPr algn="ctr">
              <a:defRPr sz="1800" b="1">
                <a:solidFill>
                  <a:srgbClr val="123044"/>
                </a:solidFill>
                <a:latin typeface="Arial"/>
                <a:ea typeface="Arial"/>
                <a:cs typeface="Arial"/>
              </a:defRPr>
            </a:lvl1pPr>
            <a:lvl2pPr algn="ctr">
              <a:defRPr sz="1800" b="1">
                <a:solidFill>
                  <a:srgbClr val="123044"/>
                </a:solidFill>
                <a:latin typeface="Arial"/>
                <a:ea typeface="Arial"/>
                <a:cs typeface="Arial"/>
              </a:defRPr>
            </a:lvl2pPr>
            <a:lvl3pPr algn="ctr">
              <a:defRPr sz="1800" b="1">
                <a:solidFill>
                  <a:srgbClr val="123044"/>
                </a:solidFill>
                <a:latin typeface="Arial"/>
                <a:ea typeface="Arial"/>
                <a:cs typeface="Arial"/>
              </a:defRPr>
            </a:lvl3pPr>
            <a:lvl4pPr algn="ctr">
              <a:defRPr sz="1800" b="1">
                <a:solidFill>
                  <a:srgbClr val="123044"/>
                </a:solidFill>
                <a:latin typeface="Arial"/>
                <a:ea typeface="Arial"/>
                <a:cs typeface="Arial"/>
              </a:defRPr>
            </a:lvl4pPr>
            <a:lvl5pPr algn="ctr">
              <a:defRPr sz="1800" b="1">
                <a:solidFill>
                  <a:srgbClr val="123044"/>
                </a:solidFill>
                <a:latin typeface="Arial"/>
                <a:ea typeface="Arial"/>
                <a:cs typeface="Arial"/>
              </a:defRPr>
            </a:lvl5pPr>
            <a:lvl6pPr algn="ctr">
              <a:defRPr sz="1800" b="1">
                <a:solidFill>
                  <a:srgbClr val="123044"/>
                </a:solidFill>
                <a:latin typeface="Arial"/>
                <a:ea typeface="Arial"/>
                <a:cs typeface="Arial"/>
              </a:defRPr>
            </a:lvl6pPr>
            <a:lvl7pPr algn="ctr">
              <a:defRPr sz="1800" b="1">
                <a:solidFill>
                  <a:srgbClr val="123044"/>
                </a:solidFill>
                <a:latin typeface="Arial"/>
                <a:ea typeface="Arial"/>
                <a:cs typeface="Arial"/>
              </a:defRPr>
            </a:lvl7pPr>
            <a:lvl8pPr algn="ctr">
              <a:defRPr sz="1800" b="1">
                <a:solidFill>
                  <a:srgbClr val="123044"/>
                </a:solidFill>
                <a:latin typeface="Arial"/>
                <a:ea typeface="Arial"/>
                <a:cs typeface="Arial"/>
              </a:defRPr>
            </a:lvl8pPr>
            <a:lvl9pPr algn="ctr">
              <a:defRPr sz="1800" b="1">
                <a:solidFill>
                  <a:srgbClr val="123044"/>
                </a:solidFill>
                <a:latin typeface="Arial"/>
                <a:ea typeface="Arial"/>
                <a:cs typeface="Arial"/>
              </a:defRPr>
            </a:lvl9pPr>
          </a:lstStyle>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Cloudflare Pages</a:t>
            </a:r>
          </a:p>
        </p:txBody>
      </p:sp>
      <p:sp>
        <p:nvSpPr>
          <p:cNvPr id="4" name="">
            <a:extLst xmlns:a="http://schemas.openxmlformats.org/drawingml/2006/main">
              <a:ext uri="{FF2B5EF4-FFF2-40B4-BE49-F238E27FC236}">
                <a16:creationId xmlns:a16="http://schemas.microsoft.com/office/drawing/2014/main" id="{D93B9628-D773-46CB-803B-93DF56C8AAB3}"/>
              </a:ext>
            </a:extLst>
          </p:cNvPr>
          <p:cNvSpPr>
            <a:spLocks xmlns:a="http://schemas.openxmlformats.org/drawingml/2006/main" noGrp="1"/>
          </p:cNvSpPr>
          <p:nvPr/>
        </p:nvSpPr>
        <p:spPr>
          <a:xfrm xmlns:a="http://schemas.openxmlformats.org/drawingml/2006/main">
            <a:off x="6238875" y="1762125"/>
            <a:ext cx="21431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123044"/>
            </a:solidFill>
          </a:ln>
        </p:spPr>
        <p:txBody>
          <a:bodyPr xmlns:a="http://schemas.openxmlformats.org/drawingml/2006/main" anchor="ctr"/>
          <a:lstStyle xmlns:a="http://schemas.openxmlformats.org/drawingml/2006/main">
            <a:defPPr algn="ctr">
              <a:defRPr sz="1800" b="1">
                <a:solidFill>
                  <a:srgbClr val="123044"/>
                </a:solidFill>
                <a:latin typeface="Arial"/>
                <a:ea typeface="Arial"/>
                <a:cs typeface="Arial"/>
              </a:defRPr>
            </a:defPPr>
            <a:lvl1pPr algn="ctr">
              <a:defRPr sz="1800" b="1">
                <a:solidFill>
                  <a:srgbClr val="123044"/>
                </a:solidFill>
                <a:latin typeface="Arial"/>
                <a:ea typeface="Arial"/>
                <a:cs typeface="Arial"/>
              </a:defRPr>
            </a:lvl1pPr>
            <a:lvl2pPr algn="ctr">
              <a:defRPr sz="1800" b="1">
                <a:solidFill>
                  <a:srgbClr val="123044"/>
                </a:solidFill>
                <a:latin typeface="Arial"/>
                <a:ea typeface="Arial"/>
                <a:cs typeface="Arial"/>
              </a:defRPr>
            </a:lvl2pPr>
            <a:lvl3pPr algn="ctr">
              <a:defRPr sz="1800" b="1">
                <a:solidFill>
                  <a:srgbClr val="123044"/>
                </a:solidFill>
                <a:latin typeface="Arial"/>
                <a:ea typeface="Arial"/>
                <a:cs typeface="Arial"/>
              </a:defRPr>
            </a:lvl3pPr>
            <a:lvl4pPr algn="ctr">
              <a:defRPr sz="1800" b="1">
                <a:solidFill>
                  <a:srgbClr val="123044"/>
                </a:solidFill>
                <a:latin typeface="Arial"/>
                <a:ea typeface="Arial"/>
                <a:cs typeface="Arial"/>
              </a:defRPr>
            </a:lvl4pPr>
            <a:lvl5pPr algn="ctr">
              <a:defRPr sz="1800" b="1">
                <a:solidFill>
                  <a:srgbClr val="123044"/>
                </a:solidFill>
                <a:latin typeface="Arial"/>
                <a:ea typeface="Arial"/>
                <a:cs typeface="Arial"/>
              </a:defRPr>
            </a:lvl5pPr>
            <a:lvl6pPr algn="ctr">
              <a:defRPr sz="1800" b="1">
                <a:solidFill>
                  <a:srgbClr val="123044"/>
                </a:solidFill>
                <a:latin typeface="Arial"/>
                <a:ea typeface="Arial"/>
                <a:cs typeface="Arial"/>
              </a:defRPr>
            </a:lvl6pPr>
            <a:lvl7pPr algn="ctr">
              <a:defRPr sz="1800" b="1">
                <a:solidFill>
                  <a:srgbClr val="123044"/>
                </a:solidFill>
                <a:latin typeface="Arial"/>
                <a:ea typeface="Arial"/>
                <a:cs typeface="Arial"/>
              </a:defRPr>
            </a:lvl7pPr>
            <a:lvl8pPr algn="ctr">
              <a:defRPr sz="1800" b="1">
                <a:solidFill>
                  <a:srgbClr val="123044"/>
                </a:solidFill>
                <a:latin typeface="Arial"/>
                <a:ea typeface="Arial"/>
                <a:cs typeface="Arial"/>
              </a:defRPr>
            </a:lvl8pPr>
            <a:lvl9pPr algn="ctr">
              <a:defRPr sz="1800" b="1">
                <a:solidFill>
                  <a:srgbClr val="123044"/>
                </a:solidFill>
                <a:latin typeface="Arial"/>
                <a:ea typeface="Arial"/>
                <a:cs typeface="Arial"/>
              </a:defRPr>
            </a:lvl9pPr>
          </a:lstStyle>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FastAPI backend</a:t>
            </a:r>
          </a:p>
        </p:txBody>
      </p:sp>
      <p:sp>
        <p:nvSpPr>
          <p:cNvPr id="5" name="">
            <a:extLst xmlns:a="http://schemas.openxmlformats.org/drawingml/2006/main">
              <a:ext uri="{FF2B5EF4-FFF2-40B4-BE49-F238E27FC236}">
                <a16:creationId xmlns:a16="http://schemas.microsoft.com/office/drawing/2014/main" id="{BF777FDB-2698-476A-8AFE-4975CAE03B05}"/>
              </a:ext>
            </a:extLst>
          </p:cNvPr>
          <p:cNvSpPr>
            <a:spLocks xmlns:a="http://schemas.openxmlformats.org/drawingml/2006/main" noGrp="1"/>
          </p:cNvSpPr>
          <p:nvPr/>
        </p:nvSpPr>
        <p:spPr>
          <a:xfrm xmlns:a="http://schemas.openxmlformats.org/drawingml/2006/main">
            <a:off x="9001125" y="1762125"/>
            <a:ext cx="25717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9050">
            <a:solidFill>
              <a:srgbClr val="123044"/>
            </a:solidFill>
          </a:ln>
        </p:spPr>
        <p:txBody>
          <a:bodyPr xmlns:a="http://schemas.openxmlformats.org/drawingml/2006/main" anchor="ctr"/>
          <a:lstStyle xmlns:a="http://schemas.openxmlformats.org/drawingml/2006/main">
            <a:defPPr algn="ctr">
              <a:defRPr sz="1800" b="1">
                <a:solidFill>
                  <a:srgbClr val="123044"/>
                </a:solidFill>
                <a:latin typeface="Arial"/>
                <a:ea typeface="Arial"/>
                <a:cs typeface="Arial"/>
              </a:defRPr>
            </a:defPPr>
            <a:lvl1pPr algn="ctr">
              <a:defRPr sz="1800" b="1">
                <a:solidFill>
                  <a:srgbClr val="123044"/>
                </a:solidFill>
                <a:latin typeface="Arial"/>
                <a:ea typeface="Arial"/>
                <a:cs typeface="Arial"/>
              </a:defRPr>
            </a:lvl1pPr>
            <a:lvl2pPr algn="ctr">
              <a:defRPr sz="1800" b="1">
                <a:solidFill>
                  <a:srgbClr val="123044"/>
                </a:solidFill>
                <a:latin typeface="Arial"/>
                <a:ea typeface="Arial"/>
                <a:cs typeface="Arial"/>
              </a:defRPr>
            </a:lvl2pPr>
            <a:lvl3pPr algn="ctr">
              <a:defRPr sz="1800" b="1">
                <a:solidFill>
                  <a:srgbClr val="123044"/>
                </a:solidFill>
                <a:latin typeface="Arial"/>
                <a:ea typeface="Arial"/>
                <a:cs typeface="Arial"/>
              </a:defRPr>
            </a:lvl3pPr>
            <a:lvl4pPr algn="ctr">
              <a:defRPr sz="1800" b="1">
                <a:solidFill>
                  <a:srgbClr val="123044"/>
                </a:solidFill>
                <a:latin typeface="Arial"/>
                <a:ea typeface="Arial"/>
                <a:cs typeface="Arial"/>
              </a:defRPr>
            </a:lvl4pPr>
            <a:lvl5pPr algn="ctr">
              <a:defRPr sz="1800" b="1">
                <a:solidFill>
                  <a:srgbClr val="123044"/>
                </a:solidFill>
                <a:latin typeface="Arial"/>
                <a:ea typeface="Arial"/>
                <a:cs typeface="Arial"/>
              </a:defRPr>
            </a:lvl5pPr>
            <a:lvl6pPr algn="ctr">
              <a:defRPr sz="1800" b="1">
                <a:solidFill>
                  <a:srgbClr val="123044"/>
                </a:solidFill>
                <a:latin typeface="Arial"/>
                <a:ea typeface="Arial"/>
                <a:cs typeface="Arial"/>
              </a:defRPr>
            </a:lvl6pPr>
            <a:lvl7pPr algn="ctr">
              <a:defRPr sz="1800" b="1">
                <a:solidFill>
                  <a:srgbClr val="123044"/>
                </a:solidFill>
                <a:latin typeface="Arial"/>
                <a:ea typeface="Arial"/>
                <a:cs typeface="Arial"/>
              </a:defRPr>
            </a:lvl7pPr>
            <a:lvl8pPr algn="ctr">
              <a:defRPr sz="1800" b="1">
                <a:solidFill>
                  <a:srgbClr val="123044"/>
                </a:solidFill>
                <a:latin typeface="Arial"/>
                <a:ea typeface="Arial"/>
                <a:cs typeface="Arial"/>
              </a:defRPr>
            </a:lvl8pPr>
            <a:lvl9pPr algn="ctr">
              <a:defRPr sz="1800" b="1">
                <a:solidFill>
                  <a:srgbClr val="123044"/>
                </a:solidFill>
                <a:latin typeface="Arial"/>
                <a:ea typeface="Arial"/>
                <a:cs typeface="Arial"/>
              </a:defRPr>
            </a:lvl9pPr>
          </a:lstStyle>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Groq AI provider</a:t>
            </a:r>
          </a:p>
        </p:txBody>
      </p:sp>
      <p:sp>
        <p:nvSpPr>
          <p:cNvPr id="6" name="">
            <a:extLst xmlns:a="http://schemas.openxmlformats.org/drawingml/2006/main">
              <a:ext uri="{FF2B5EF4-FFF2-40B4-BE49-F238E27FC236}">
                <a16:creationId xmlns:a16="http://schemas.microsoft.com/office/drawing/2014/main" id="{363A5083-3B80-4F61-B6FA-12DA76149FE2}"/>
              </a:ext>
            </a:extLst>
          </p:cNvPr>
          <p:cNvSpPr>
            <a:spLocks xmlns:a="http://schemas.openxmlformats.org/drawingml/2006/main" noGrp="1"/>
          </p:cNvSpPr>
          <p:nvPr/>
        </p:nvSpPr>
        <p:spPr>
          <a:xfrm xmlns:a="http://schemas.openxmlformats.org/drawingml/2006/main">
            <a:off x="3486150" y="3333750"/>
            <a:ext cx="2143125"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123044"/>
            </a:solidFill>
          </a:ln>
        </p:spPr>
        <p:txBody>
          <a:bodyPr xmlns:a="http://schemas.openxmlformats.org/drawingml/2006/main" anchor="ctr"/>
          <a:lstStyle xmlns:a="http://schemas.openxmlformats.org/drawingml/2006/main">
            <a:defPPr algn="ctr">
              <a:defRPr sz="1800" b="1">
                <a:solidFill>
                  <a:srgbClr val="123044"/>
                </a:solidFill>
                <a:latin typeface="Arial"/>
                <a:ea typeface="Arial"/>
                <a:cs typeface="Arial"/>
              </a:defRPr>
            </a:defPPr>
            <a:lvl1pPr algn="ctr">
              <a:defRPr sz="1800" b="1">
                <a:solidFill>
                  <a:srgbClr val="123044"/>
                </a:solidFill>
                <a:latin typeface="Arial"/>
                <a:ea typeface="Arial"/>
                <a:cs typeface="Arial"/>
              </a:defRPr>
            </a:lvl1pPr>
            <a:lvl2pPr algn="ctr">
              <a:defRPr sz="1800" b="1">
                <a:solidFill>
                  <a:srgbClr val="123044"/>
                </a:solidFill>
                <a:latin typeface="Arial"/>
                <a:ea typeface="Arial"/>
                <a:cs typeface="Arial"/>
              </a:defRPr>
            </a:lvl2pPr>
            <a:lvl3pPr algn="ctr">
              <a:defRPr sz="1800" b="1">
                <a:solidFill>
                  <a:srgbClr val="123044"/>
                </a:solidFill>
                <a:latin typeface="Arial"/>
                <a:ea typeface="Arial"/>
                <a:cs typeface="Arial"/>
              </a:defRPr>
            </a:lvl3pPr>
            <a:lvl4pPr algn="ctr">
              <a:defRPr sz="1800" b="1">
                <a:solidFill>
                  <a:srgbClr val="123044"/>
                </a:solidFill>
                <a:latin typeface="Arial"/>
                <a:ea typeface="Arial"/>
                <a:cs typeface="Arial"/>
              </a:defRPr>
            </a:lvl4pPr>
            <a:lvl5pPr algn="ctr">
              <a:defRPr sz="1800" b="1">
                <a:solidFill>
                  <a:srgbClr val="123044"/>
                </a:solidFill>
                <a:latin typeface="Arial"/>
                <a:ea typeface="Arial"/>
                <a:cs typeface="Arial"/>
              </a:defRPr>
            </a:lvl5pPr>
            <a:lvl6pPr algn="ctr">
              <a:defRPr sz="1800" b="1">
                <a:solidFill>
                  <a:srgbClr val="123044"/>
                </a:solidFill>
                <a:latin typeface="Arial"/>
                <a:ea typeface="Arial"/>
                <a:cs typeface="Arial"/>
              </a:defRPr>
            </a:lvl6pPr>
            <a:lvl7pPr algn="ctr">
              <a:defRPr sz="1800" b="1">
                <a:solidFill>
                  <a:srgbClr val="123044"/>
                </a:solidFill>
                <a:latin typeface="Arial"/>
                <a:ea typeface="Arial"/>
                <a:cs typeface="Arial"/>
              </a:defRPr>
            </a:lvl7pPr>
            <a:lvl8pPr algn="ctr">
              <a:defRPr sz="1800" b="1">
                <a:solidFill>
                  <a:srgbClr val="123044"/>
                </a:solidFill>
                <a:latin typeface="Arial"/>
                <a:ea typeface="Arial"/>
                <a:cs typeface="Arial"/>
              </a:defRPr>
            </a:lvl8pPr>
            <a:lvl9pPr algn="ctr">
              <a:defRPr sz="1800" b="1">
                <a:solidFill>
                  <a:srgbClr val="123044"/>
                </a:solidFill>
                <a:latin typeface="Arial"/>
                <a:ea typeface="Arial"/>
                <a:cs typeface="Arial"/>
              </a:defRPr>
            </a:lvl9pPr>
          </a:lstStyle>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Next.js website</a:t>
            </a:r>
          </a:p>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Netlify</a:t>
            </a:r>
          </a:p>
        </p:txBody>
      </p:sp>
      <p:sp>
        <p:nvSpPr>
          <p:cNvPr id="7" name="">
            <a:extLst xmlns:a="http://schemas.openxmlformats.org/drawingml/2006/main">
              <a:ext uri="{FF2B5EF4-FFF2-40B4-BE49-F238E27FC236}">
                <a16:creationId xmlns:a16="http://schemas.microsoft.com/office/drawing/2014/main" id="{E91E8BB0-F9BE-4E43-974B-372A80E0FC3A}"/>
              </a:ext>
            </a:extLst>
          </p:cNvPr>
          <p:cNvSpPr>
            <a:spLocks xmlns:a="http://schemas.openxmlformats.org/drawingml/2006/main" noGrp="1"/>
          </p:cNvSpPr>
          <p:nvPr/>
        </p:nvSpPr>
        <p:spPr>
          <a:xfrm xmlns:a="http://schemas.openxmlformats.org/drawingml/2006/main">
            <a:off x="6238875" y="3333750"/>
            <a:ext cx="2143125"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123044"/>
            </a:solidFill>
          </a:ln>
        </p:spPr>
        <p:txBody>
          <a:bodyPr xmlns:a="http://schemas.openxmlformats.org/drawingml/2006/main" anchor="ctr"/>
          <a:lstStyle xmlns:a="http://schemas.openxmlformats.org/drawingml/2006/main">
            <a:defPPr algn="ctr">
              <a:defRPr sz="1800" b="1">
                <a:solidFill>
                  <a:srgbClr val="123044"/>
                </a:solidFill>
                <a:latin typeface="Arial"/>
                <a:ea typeface="Arial"/>
                <a:cs typeface="Arial"/>
              </a:defRPr>
            </a:defPPr>
            <a:lvl1pPr algn="ctr">
              <a:defRPr sz="1800" b="1">
                <a:solidFill>
                  <a:srgbClr val="123044"/>
                </a:solidFill>
                <a:latin typeface="Arial"/>
                <a:ea typeface="Arial"/>
                <a:cs typeface="Arial"/>
              </a:defRPr>
            </a:lvl1pPr>
            <a:lvl2pPr algn="ctr">
              <a:defRPr sz="1800" b="1">
                <a:solidFill>
                  <a:srgbClr val="123044"/>
                </a:solidFill>
                <a:latin typeface="Arial"/>
                <a:ea typeface="Arial"/>
                <a:cs typeface="Arial"/>
              </a:defRPr>
            </a:lvl2pPr>
            <a:lvl3pPr algn="ctr">
              <a:defRPr sz="1800" b="1">
                <a:solidFill>
                  <a:srgbClr val="123044"/>
                </a:solidFill>
                <a:latin typeface="Arial"/>
                <a:ea typeface="Arial"/>
                <a:cs typeface="Arial"/>
              </a:defRPr>
            </a:lvl3pPr>
            <a:lvl4pPr algn="ctr">
              <a:defRPr sz="1800" b="1">
                <a:solidFill>
                  <a:srgbClr val="123044"/>
                </a:solidFill>
                <a:latin typeface="Arial"/>
                <a:ea typeface="Arial"/>
                <a:cs typeface="Arial"/>
              </a:defRPr>
            </a:lvl4pPr>
            <a:lvl5pPr algn="ctr">
              <a:defRPr sz="1800" b="1">
                <a:solidFill>
                  <a:srgbClr val="123044"/>
                </a:solidFill>
                <a:latin typeface="Arial"/>
                <a:ea typeface="Arial"/>
                <a:cs typeface="Arial"/>
              </a:defRPr>
            </a:lvl5pPr>
            <a:lvl6pPr algn="ctr">
              <a:defRPr sz="1800" b="1">
                <a:solidFill>
                  <a:srgbClr val="123044"/>
                </a:solidFill>
                <a:latin typeface="Arial"/>
                <a:ea typeface="Arial"/>
                <a:cs typeface="Arial"/>
              </a:defRPr>
            </a:lvl6pPr>
            <a:lvl7pPr algn="ctr">
              <a:defRPr sz="1800" b="1">
                <a:solidFill>
                  <a:srgbClr val="123044"/>
                </a:solidFill>
                <a:latin typeface="Arial"/>
                <a:ea typeface="Arial"/>
                <a:cs typeface="Arial"/>
              </a:defRPr>
            </a:lvl7pPr>
            <a:lvl8pPr algn="ctr">
              <a:defRPr sz="1800" b="1">
                <a:solidFill>
                  <a:srgbClr val="123044"/>
                </a:solidFill>
                <a:latin typeface="Arial"/>
                <a:ea typeface="Arial"/>
                <a:cs typeface="Arial"/>
              </a:defRPr>
            </a:lvl8pPr>
            <a:lvl9pPr algn="ctr">
              <a:defRPr sz="1800" b="1">
                <a:solidFill>
                  <a:srgbClr val="123044"/>
                </a:solidFill>
                <a:latin typeface="Arial"/>
                <a:ea typeface="Arial"/>
                <a:cs typeface="Arial"/>
              </a:defRPr>
            </a:lvl9pPr>
          </a:lstStyle>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PostgreSQL</a:t>
            </a:r>
          </a:p>
          <a:p xmlns:a="http://schemas.openxmlformats.org/drawingml/2006/main">
            <a:pPr algn="ctr">
              <a:defRPr sz="1800" b="1">
                <a:solidFill>
                  <a:srgbClr val="123044"/>
                </a:solidFill>
                <a:latin typeface="Arial"/>
                <a:ea typeface="Arial"/>
                <a:cs typeface="Arial"/>
              </a:defRPr>
            </a:pPr>
            <a:r>
              <a:rPr sz="1800" b="1">
                <a:solidFill>
                  <a:srgbClr val="123044"/>
                </a:solidFill>
                <a:latin typeface="Arial"/>
                <a:ea typeface="Arial"/>
                <a:cs typeface="Arial"/>
              </a:rPr>
              <a:t>Neon</a:t>
            </a:r>
          </a:p>
        </p:txBody>
      </p:sp>
      <p:sp>
        <p:nvSpPr>
          <p:cNvPr id="13" name="">
            <a:extLst xmlns:a="http://schemas.openxmlformats.org/drawingml/2006/main">
              <a:ext uri="{FF2B5EF4-FFF2-40B4-BE49-F238E27FC236}">
                <a16:creationId xmlns:a16="http://schemas.microsoft.com/office/drawing/2014/main" id="{18A77FFE-7C19-4DD2-A5B6-DDF6FB686ED6}"/>
              </a:ext>
            </a:extLst>
          </p:cNvPr>
          <p:cNvSpPr>
            <a:spLocks xmlns:a="http://schemas.openxmlformats.org/drawingml/2006/main" noGrp="1"/>
          </p:cNvSpPr>
          <p:nvPr/>
        </p:nvSpPr>
        <p:spPr>
          <a:xfrm xmlns:a="http://schemas.openxmlformats.org/drawingml/2006/main">
            <a:off x="2895600" y="1857375"/>
            <a:ext cx="609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52616B"/>
                </a:solidFill>
                <a:latin typeface="Arial"/>
                <a:ea typeface="Arial"/>
                <a:cs typeface="Arial"/>
              </a:defRPr>
            </a:defPPr>
            <a:lvl1pPr>
              <a:defRPr sz="1275" b="0">
                <a:solidFill>
                  <a:srgbClr val="52616B"/>
                </a:solidFill>
                <a:latin typeface="Arial"/>
                <a:ea typeface="Arial"/>
                <a:cs typeface="Arial"/>
              </a:defRPr>
            </a:lvl1pPr>
            <a:lvl2pPr>
              <a:defRPr sz="1275" b="0">
                <a:solidFill>
                  <a:srgbClr val="52616B"/>
                </a:solidFill>
                <a:latin typeface="Arial"/>
                <a:ea typeface="Arial"/>
                <a:cs typeface="Arial"/>
              </a:defRPr>
            </a:lvl2pPr>
            <a:lvl3pPr>
              <a:defRPr sz="1275" b="0">
                <a:solidFill>
                  <a:srgbClr val="52616B"/>
                </a:solidFill>
                <a:latin typeface="Arial"/>
                <a:ea typeface="Arial"/>
                <a:cs typeface="Arial"/>
              </a:defRPr>
            </a:lvl3pPr>
            <a:lvl4pPr>
              <a:defRPr sz="1275" b="0">
                <a:solidFill>
                  <a:srgbClr val="52616B"/>
                </a:solidFill>
                <a:latin typeface="Arial"/>
                <a:ea typeface="Arial"/>
                <a:cs typeface="Arial"/>
              </a:defRPr>
            </a:lvl4pPr>
            <a:lvl5pPr>
              <a:defRPr sz="1275" b="0">
                <a:solidFill>
                  <a:srgbClr val="52616B"/>
                </a:solidFill>
                <a:latin typeface="Arial"/>
                <a:ea typeface="Arial"/>
                <a:cs typeface="Arial"/>
              </a:defRPr>
            </a:lvl5pPr>
            <a:lvl6pPr>
              <a:defRPr sz="1275" b="0">
                <a:solidFill>
                  <a:srgbClr val="52616B"/>
                </a:solidFill>
                <a:latin typeface="Arial"/>
                <a:ea typeface="Arial"/>
                <a:cs typeface="Arial"/>
              </a:defRPr>
            </a:lvl6pPr>
            <a:lvl7pPr>
              <a:defRPr sz="1275" b="0">
                <a:solidFill>
                  <a:srgbClr val="52616B"/>
                </a:solidFill>
                <a:latin typeface="Arial"/>
                <a:ea typeface="Arial"/>
                <a:cs typeface="Arial"/>
              </a:defRPr>
            </a:lvl7pPr>
            <a:lvl8pPr>
              <a:defRPr sz="1275" b="0">
                <a:solidFill>
                  <a:srgbClr val="52616B"/>
                </a:solidFill>
                <a:latin typeface="Arial"/>
                <a:ea typeface="Arial"/>
                <a:cs typeface="Arial"/>
              </a:defRPr>
            </a:lvl8pPr>
            <a:lvl9pPr>
              <a:defRPr sz="1275" b="0">
                <a:solidFill>
                  <a:srgbClr val="52616B"/>
                </a:solidFill>
                <a:latin typeface="Arial"/>
                <a:ea typeface="Arial"/>
                <a:cs typeface="Arial"/>
              </a:defRPr>
            </a:lvl9pPr>
          </a:lstStyle>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HTTPS</a:t>
            </a:r>
          </a:p>
        </p:txBody>
      </p:sp>
      <p:sp>
        <p:nvSpPr>
          <p:cNvPr id="14" name="">
            <a:extLst xmlns:a="http://schemas.openxmlformats.org/drawingml/2006/main">
              <a:ext uri="{FF2B5EF4-FFF2-40B4-BE49-F238E27FC236}">
                <a16:creationId xmlns:a16="http://schemas.microsoft.com/office/drawing/2014/main" id="{F667735F-FF39-40FC-A219-3BE9B032BAA7}"/>
              </a:ext>
            </a:extLst>
          </p:cNvPr>
          <p:cNvSpPr>
            <a:spLocks xmlns:a="http://schemas.openxmlformats.org/drawingml/2006/main" noGrp="1"/>
          </p:cNvSpPr>
          <p:nvPr/>
        </p:nvSpPr>
        <p:spPr>
          <a:xfrm xmlns:a="http://schemas.openxmlformats.org/drawingml/2006/main">
            <a:off x="5715000" y="185737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0">
                <a:solidFill>
                  <a:srgbClr val="52616B"/>
                </a:solidFill>
                <a:latin typeface="Arial"/>
                <a:ea typeface="Arial"/>
                <a:cs typeface="Arial"/>
              </a:defRPr>
            </a:defPPr>
            <a:lvl1pPr>
              <a:defRPr sz="1275" b="0">
                <a:solidFill>
                  <a:srgbClr val="52616B"/>
                </a:solidFill>
                <a:latin typeface="Arial"/>
                <a:ea typeface="Arial"/>
                <a:cs typeface="Arial"/>
              </a:defRPr>
            </a:lvl1pPr>
            <a:lvl2pPr>
              <a:defRPr sz="1275" b="0">
                <a:solidFill>
                  <a:srgbClr val="52616B"/>
                </a:solidFill>
                <a:latin typeface="Arial"/>
                <a:ea typeface="Arial"/>
                <a:cs typeface="Arial"/>
              </a:defRPr>
            </a:lvl2pPr>
            <a:lvl3pPr>
              <a:defRPr sz="1275" b="0">
                <a:solidFill>
                  <a:srgbClr val="52616B"/>
                </a:solidFill>
                <a:latin typeface="Arial"/>
                <a:ea typeface="Arial"/>
                <a:cs typeface="Arial"/>
              </a:defRPr>
            </a:lvl3pPr>
            <a:lvl4pPr>
              <a:defRPr sz="1275" b="0">
                <a:solidFill>
                  <a:srgbClr val="52616B"/>
                </a:solidFill>
                <a:latin typeface="Arial"/>
                <a:ea typeface="Arial"/>
                <a:cs typeface="Arial"/>
              </a:defRPr>
            </a:lvl4pPr>
            <a:lvl5pPr>
              <a:defRPr sz="1275" b="0">
                <a:solidFill>
                  <a:srgbClr val="52616B"/>
                </a:solidFill>
                <a:latin typeface="Arial"/>
                <a:ea typeface="Arial"/>
                <a:cs typeface="Arial"/>
              </a:defRPr>
            </a:lvl5pPr>
            <a:lvl6pPr>
              <a:defRPr sz="1275" b="0">
                <a:solidFill>
                  <a:srgbClr val="52616B"/>
                </a:solidFill>
                <a:latin typeface="Arial"/>
                <a:ea typeface="Arial"/>
                <a:cs typeface="Arial"/>
              </a:defRPr>
            </a:lvl6pPr>
            <a:lvl7pPr>
              <a:defRPr sz="1275" b="0">
                <a:solidFill>
                  <a:srgbClr val="52616B"/>
                </a:solidFill>
                <a:latin typeface="Arial"/>
                <a:ea typeface="Arial"/>
                <a:cs typeface="Arial"/>
              </a:defRPr>
            </a:lvl7pPr>
            <a:lvl8pPr>
              <a:defRPr sz="1275" b="0">
                <a:solidFill>
                  <a:srgbClr val="52616B"/>
                </a:solidFill>
                <a:latin typeface="Arial"/>
                <a:ea typeface="Arial"/>
                <a:cs typeface="Arial"/>
              </a:defRPr>
            </a:lvl8pPr>
            <a:lvl9pPr>
              <a:defRPr sz="1275" b="0">
                <a:solidFill>
                  <a:srgbClr val="52616B"/>
                </a:solidFill>
                <a:latin typeface="Arial"/>
                <a:ea typeface="Arial"/>
                <a:cs typeface="Arial"/>
              </a:defRPr>
            </a:lvl9pPr>
          </a:lstStyle>
          <a:p xmlns:a="http://schemas.openxmlformats.org/drawingml/2006/main">
            <a:pPr>
              <a:defRPr sz="1275" b="0">
                <a:solidFill>
                  <a:srgbClr val="52616B"/>
                </a:solidFill>
                <a:latin typeface="Arial"/>
                <a:ea typeface="Arial"/>
                <a:cs typeface="Arial"/>
              </a:defRPr>
            </a:pPr>
            <a:r>
              <a:rPr sz="1275" b="0">
                <a:solidFill>
                  <a:srgbClr val="52616B"/>
                </a:solidFill>
                <a:latin typeface="Arial"/>
                <a:ea typeface="Arial"/>
                <a:cs typeface="Arial"/>
              </a:rPr>
              <a:t>API</a:t>
            </a:r>
          </a:p>
        </p:txBody>
      </p:sp>
      <p:sp>
        <p:nvSpPr>
          <p:cNvPr id="15" name="">
            <a:extLst xmlns:a="http://schemas.openxmlformats.org/drawingml/2006/main">
              <a:ext uri="{FF2B5EF4-FFF2-40B4-BE49-F238E27FC236}">
                <a16:creationId xmlns:a16="http://schemas.microsoft.com/office/drawing/2014/main" id="{4EBA24FD-7023-46FA-82F2-25BE81926AAE}"/>
              </a:ext>
            </a:extLst>
          </p:cNvPr>
          <p:cNvSpPr>
            <a:spLocks xmlns:a="http://schemas.openxmlformats.org/drawingml/2006/main" noGrp="1"/>
          </p:cNvSpPr>
          <p:nvPr/>
        </p:nvSpPr>
        <p:spPr>
          <a:xfrm xmlns:a="http://schemas.openxmlformats.org/drawingml/2006/main">
            <a:off x="3857625" y="28765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pages</a:t>
            </a:r>
          </a:p>
        </p:txBody>
      </p:sp>
      <p:sp>
        <p:nvSpPr>
          <p:cNvPr id="16" name="">
            <a:extLst xmlns:a="http://schemas.openxmlformats.org/drawingml/2006/main">
              <a:ext uri="{FF2B5EF4-FFF2-40B4-BE49-F238E27FC236}">
                <a16:creationId xmlns:a16="http://schemas.microsoft.com/office/drawing/2014/main" id="{6F7F95ED-0B25-4E0A-AD8E-B59B227551E9}"/>
              </a:ext>
            </a:extLst>
          </p:cNvPr>
          <p:cNvSpPr>
            <a:spLocks xmlns:a="http://schemas.openxmlformats.org/drawingml/2006/main" noGrp="1"/>
          </p:cNvSpPr>
          <p:nvPr/>
        </p:nvSpPr>
        <p:spPr>
          <a:xfrm xmlns:a="http://schemas.openxmlformats.org/drawingml/2006/main">
            <a:off x="6591300" y="2876550"/>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store / load</a:t>
            </a:r>
          </a:p>
        </p:txBody>
      </p:sp>
      <p:sp>
        <p:nvSpPr>
          <p:cNvPr id="17" name="">
            <a:extLst xmlns:a="http://schemas.openxmlformats.org/drawingml/2006/main">
              <a:ext uri="{FF2B5EF4-FFF2-40B4-BE49-F238E27FC236}">
                <a16:creationId xmlns:a16="http://schemas.microsoft.com/office/drawing/2014/main" id="{FFDF184C-66FB-48F2-8D3C-BB56523688B1}"/>
              </a:ext>
            </a:extLst>
          </p:cNvPr>
          <p:cNvSpPr>
            <a:spLocks xmlns:a="http://schemas.openxmlformats.org/drawingml/2006/main" noGrp="1"/>
          </p:cNvSpPr>
          <p:nvPr/>
        </p:nvSpPr>
        <p:spPr>
          <a:xfrm xmlns:a="http://schemas.openxmlformats.org/drawingml/2006/main">
            <a:off x="628650" y="4695825"/>
            <a:ext cx="10858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a:solidFill>
                  <a:srgbClr val="1F2933"/>
                </a:solidFill>
                <a:latin typeface="Arial"/>
                <a:ea typeface="Arial"/>
                <a:cs typeface="Arial"/>
              </a:defRPr>
            </a:defPPr>
            <a:lvl1pPr>
              <a:defRPr sz="1950">
                <a:solidFill>
                  <a:srgbClr val="1F2933"/>
                </a:solidFill>
                <a:latin typeface="Arial"/>
                <a:ea typeface="Arial"/>
                <a:cs typeface="Arial"/>
              </a:defRPr>
            </a:lvl1pPr>
            <a:lvl2pPr>
              <a:defRPr sz="1950">
                <a:solidFill>
                  <a:srgbClr val="1F2933"/>
                </a:solidFill>
                <a:latin typeface="Arial"/>
                <a:ea typeface="Arial"/>
                <a:cs typeface="Arial"/>
              </a:defRPr>
            </a:lvl2pPr>
            <a:lvl3pPr>
              <a:defRPr sz="1950">
                <a:solidFill>
                  <a:srgbClr val="1F2933"/>
                </a:solidFill>
                <a:latin typeface="Arial"/>
                <a:ea typeface="Arial"/>
                <a:cs typeface="Arial"/>
              </a:defRPr>
            </a:lvl3pPr>
            <a:lvl4pPr>
              <a:defRPr sz="1950">
                <a:solidFill>
                  <a:srgbClr val="1F2933"/>
                </a:solidFill>
                <a:latin typeface="Arial"/>
                <a:ea typeface="Arial"/>
                <a:cs typeface="Arial"/>
              </a:defRPr>
            </a:lvl4pPr>
            <a:lvl5pPr>
              <a:defRPr sz="1950">
                <a:solidFill>
                  <a:srgbClr val="1F2933"/>
                </a:solidFill>
                <a:latin typeface="Arial"/>
                <a:ea typeface="Arial"/>
                <a:cs typeface="Arial"/>
              </a:defRPr>
            </a:lvl5pPr>
            <a:lvl6pPr>
              <a:defRPr sz="1950">
                <a:solidFill>
                  <a:srgbClr val="1F2933"/>
                </a:solidFill>
                <a:latin typeface="Arial"/>
                <a:ea typeface="Arial"/>
                <a:cs typeface="Arial"/>
              </a:defRPr>
            </a:lvl6pPr>
            <a:lvl7pPr>
              <a:defRPr sz="1950">
                <a:solidFill>
                  <a:srgbClr val="1F2933"/>
                </a:solidFill>
                <a:latin typeface="Arial"/>
                <a:ea typeface="Arial"/>
                <a:cs typeface="Arial"/>
              </a:defRPr>
            </a:lvl7pPr>
            <a:lvl8pPr>
              <a:defRPr sz="1950">
                <a:solidFill>
                  <a:srgbClr val="1F2933"/>
                </a:solidFill>
                <a:latin typeface="Arial"/>
                <a:ea typeface="Arial"/>
                <a:cs typeface="Arial"/>
              </a:defRPr>
            </a:lvl8pPr>
            <a:lvl9pPr>
              <a:defRPr sz="1950">
                <a:solidFill>
                  <a:srgbClr val="1F2933"/>
                </a:solidFill>
                <a:latin typeface="Arial"/>
                <a:ea typeface="Arial"/>
                <a:cs typeface="Arial"/>
              </a:defRPr>
            </a:lvl9pPr>
          </a:lstStyle>
          <a:p xmlns:a="http://schemas.openxmlformats.org/drawingml/2006/main">
            <a:pPr marL="241300" indent="-114300">
              <a:spcAft>
                <a:spcPts val="1000"/>
              </a:spcAft>
              <a:buChar char="•"/>
              <a:defRPr sz="1950">
                <a:solidFill>
                  <a:srgbClr val="1F2933"/>
                </a:solidFill>
                <a:latin typeface="Arial"/>
                <a:ea typeface="Arial"/>
                <a:cs typeface="Arial"/>
              </a:defRPr>
            </a:pPr>
            <a:r>
              <a:rPr sz="1950">
                <a:solidFill>
                  <a:srgbClr val="1F2933"/>
                </a:solidFill>
                <a:latin typeface="Arial"/>
                <a:ea typeface="Arial"/>
                <a:cs typeface="Arial"/>
              </a:rPr>
              <a:t>Clients collect input and show results. FastAPI handles application logic.</a:t>
            </a:r>
          </a:p>
          <a:p xmlns:a="http://schemas.openxmlformats.org/drawingml/2006/main">
            <a:pPr marL="241300" indent="-114300">
              <a:spcAft>
                <a:spcPts val="1000"/>
              </a:spcAft>
              <a:buChar char="•"/>
              <a:defRPr sz="1950">
                <a:solidFill>
                  <a:srgbClr val="1F2933"/>
                </a:solidFill>
                <a:latin typeface="Arial"/>
                <a:ea typeface="Arial"/>
                <a:cs typeface="Arial"/>
              </a:defRPr>
            </a:pPr>
            <a:r>
              <a:rPr sz="1950">
                <a:solidFill>
                  <a:srgbClr val="1F2933"/>
                </a:solidFill>
                <a:latin typeface="Arial"/>
                <a:ea typeface="Arial"/>
                <a:cs typeface="Arial"/>
              </a:rPr>
              <a:t>HTTPS carries requests. SSE streams reply text as it arrives.</a:t>
            </a:r>
          </a:p>
        </p:txBody>
      </p:sp>
      <p:sp>
        <p:nvSpPr>
          <p:cNvPr id="18" name="">
            <a:extLst xmlns:a="http://schemas.openxmlformats.org/drawingml/2006/main">
              <a:ext uri="{FF2B5EF4-FFF2-40B4-BE49-F238E27FC236}">
                <a16:creationId xmlns:a16="http://schemas.microsoft.com/office/drawing/2014/main" id="{557106D6-C16E-4175-8C36-CEF1CADE4F55}"/>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19" name="">
            <a:extLst xmlns:a="http://schemas.openxmlformats.org/drawingml/2006/main">
              <a:ext uri="{FF2B5EF4-FFF2-40B4-BE49-F238E27FC236}">
                <a16:creationId xmlns:a16="http://schemas.microsoft.com/office/drawing/2014/main" id="{31E74DBD-F067-477F-AF1B-BCEAF514BD76}"/>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One shared API connects both clients to data and the AI provider.</a:t>
            </a:r>
          </a:p>
        </p:txBody>
      </p:sp>
      <p:sp>
        <p:nvSpPr>
          <p:cNvPr id="20" name="">
            <a:extLst xmlns:a="http://schemas.openxmlformats.org/drawingml/2006/main">
              <a:ext uri="{FF2B5EF4-FFF2-40B4-BE49-F238E27FC236}">
                <a16:creationId xmlns:a16="http://schemas.microsoft.com/office/drawing/2014/main" id="{7750298D-926C-482D-BD22-100860CBB4B3}"/>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3 / 8</a:t>
            </a:r>
          </a:p>
        </p:txBody>
      </p:sp>
    </p:spTree>
    <p:extLst>
      <p:ext uri="{BB962C8B-B14F-4D97-AF65-F5344CB8AC3E}">
        <p14:creationId xmlns:p14="http://schemas.microsoft.com/office/powerpoint/2010/main" val="1582161188"/>
      </p:ext>
    </p:extLst>
  </p:cSld>
</p:sld>
</file>

<file path=ppt/slides/slide4.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88DC14-9928-48C4-8987-A3DF8060446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Agent runtime</a:t>
            </a:r>
          </a:p>
        </p:txBody>
      </p:sp>
      <p:sp>
        <p:nvSpPr>
          <p:cNvPr id="2" name="">
            <a:extLst xmlns:a="http://schemas.openxmlformats.org/drawingml/2006/main">
              <a:ext uri="{FF2B5EF4-FFF2-40B4-BE49-F238E27FC236}">
                <a16:creationId xmlns:a16="http://schemas.microsoft.com/office/drawing/2014/main" id="{0B5F0CFB-067D-4D23-8FD3-612C5AD76346}"/>
              </a:ext>
            </a:extLst>
          </p:cNvPr>
          <p:cNvSpPr>
            <a:spLocks xmlns:a="http://schemas.openxmlformats.org/drawingml/2006/main" noGrp="1"/>
          </p:cNvSpPr>
          <p:nvPr/>
        </p:nvSpPr>
        <p:spPr>
          <a:xfrm xmlns:a="http://schemas.openxmlformats.org/drawingml/2006/main">
            <a:off x="628650" y="119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Main component 1</a:t>
            </a:r>
          </a:p>
        </p:txBody>
      </p:sp>
      <p:sp>
        <p:nvSpPr>
          <p:cNvPr id="3" name="">
            <a:extLst xmlns:a="http://schemas.openxmlformats.org/drawingml/2006/main">
              <a:ext uri="{FF2B5EF4-FFF2-40B4-BE49-F238E27FC236}">
                <a16:creationId xmlns:a16="http://schemas.microsoft.com/office/drawing/2014/main" id="{E1FE49CA-B298-496F-B2D6-E75880A2353D}"/>
              </a:ext>
            </a:extLst>
          </p:cNvPr>
          <p:cNvSpPr>
            <a:spLocks xmlns:a="http://schemas.openxmlformats.org/drawingml/2006/main" noGrp="1"/>
          </p:cNvSpPr>
          <p:nvPr/>
        </p:nvSpPr>
        <p:spPr>
          <a:xfrm xmlns:a="http://schemas.openxmlformats.org/drawingml/2006/main">
            <a:off x="628650" y="19716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registry.py loads each teammate’s configuration and prompt.</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AgentRuntime.run_stream() manages one conversation turn.</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It builds context, calls the provider and streams the answer.</a:t>
            </a:r>
          </a:p>
        </p:txBody>
      </p:sp>
      <p:sp>
        <p:nvSpPr>
          <p:cNvPr id="4" name="">
            <a:extLst xmlns:a="http://schemas.openxmlformats.org/drawingml/2006/main">
              <a:ext uri="{FF2B5EF4-FFF2-40B4-BE49-F238E27FC236}">
                <a16:creationId xmlns:a16="http://schemas.microsoft.com/office/drawing/2014/main" id="{4701A8E7-E41F-4966-BAD0-339205F2BAB7}"/>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5" name="">
            <a:extLst xmlns:a="http://schemas.openxmlformats.org/drawingml/2006/main">
              <a:ext uri="{FF2B5EF4-FFF2-40B4-BE49-F238E27FC236}">
                <a16:creationId xmlns:a16="http://schemas.microsoft.com/office/drawing/2014/main" id="{FE37760D-D0F0-43FF-BD4E-43BACD4D9331}"/>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Ten teammates use one shared runtime, with different configurations.</a:t>
            </a:r>
          </a:p>
        </p:txBody>
      </p:sp>
      <p:sp>
        <p:nvSpPr>
          <p:cNvPr id="6" name="">
            <a:extLst xmlns:a="http://schemas.openxmlformats.org/drawingml/2006/main">
              <a:ext uri="{FF2B5EF4-FFF2-40B4-BE49-F238E27FC236}">
                <a16:creationId xmlns:a16="http://schemas.microsoft.com/office/drawing/2014/main" id="{D7F2FF85-1811-46D6-9F5D-1689B71AB574}"/>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4 / 8</a:t>
            </a:r>
          </a:p>
        </p:txBody>
      </p:sp>
    </p:spTree>
    <p:extLst>
      <p:ext uri="{BB962C8B-B14F-4D97-AF65-F5344CB8AC3E}">
        <p14:creationId xmlns:p14="http://schemas.microsoft.com/office/powerpoint/2010/main" val="1311365079"/>
      </p:ext>
    </p:extLst>
  </p:cSld>
</p:sld>
</file>

<file path=ppt/slides/slide5.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46A9AA-AA1E-4302-94D2-BDFC8C283E78}"/>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Context and memory</a:t>
            </a:r>
          </a:p>
        </p:txBody>
      </p:sp>
      <p:sp>
        <p:nvSpPr>
          <p:cNvPr id="2" name="">
            <a:extLst xmlns:a="http://schemas.openxmlformats.org/drawingml/2006/main">
              <a:ext uri="{FF2B5EF4-FFF2-40B4-BE49-F238E27FC236}">
                <a16:creationId xmlns:a16="http://schemas.microsoft.com/office/drawing/2014/main" id="{ECDFB17F-E76C-42A2-9C97-7BD04F7A9CE1}"/>
              </a:ext>
            </a:extLst>
          </p:cNvPr>
          <p:cNvSpPr>
            <a:spLocks xmlns:a="http://schemas.openxmlformats.org/drawingml/2006/main" noGrp="1"/>
          </p:cNvSpPr>
          <p:nvPr/>
        </p:nvSpPr>
        <p:spPr>
          <a:xfrm xmlns:a="http://schemas.openxmlformats.org/drawingml/2006/main">
            <a:off x="628650" y="119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Main component 2</a:t>
            </a:r>
          </a:p>
        </p:txBody>
      </p:sp>
      <p:sp>
        <p:nvSpPr>
          <p:cNvPr id="3" name="">
            <a:extLst xmlns:a="http://schemas.openxmlformats.org/drawingml/2006/main">
              <a:ext uri="{FF2B5EF4-FFF2-40B4-BE49-F238E27FC236}">
                <a16:creationId xmlns:a16="http://schemas.microsoft.com/office/drawing/2014/main" id="{95E841C6-0B8D-4DB2-B671-41722BE4F7EB}"/>
              </a:ext>
            </a:extLst>
          </p:cNvPr>
          <p:cNvSpPr>
            <a:spLocks xmlns:a="http://schemas.openxmlformats.org/drawingml/2006/main" noGrp="1"/>
          </p:cNvSpPr>
          <p:nvPr/>
        </p:nvSpPr>
        <p:spPr>
          <a:xfrm xmlns:a="http://schemas.openxmlformats.org/drawingml/2006/main">
            <a:off x="628650" y="19716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build_context() combines instructions, history, memories and goals.</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Shared memory contains facts permitted for the selected agent.</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Agent memory holds specialist-specific information.</a:t>
            </a:r>
          </a:p>
        </p:txBody>
      </p:sp>
      <p:sp>
        <p:nvSpPr>
          <p:cNvPr id="4" name="">
            <a:extLst xmlns:a="http://schemas.openxmlformats.org/drawingml/2006/main">
              <a:ext uri="{FF2B5EF4-FFF2-40B4-BE49-F238E27FC236}">
                <a16:creationId xmlns:a16="http://schemas.microsoft.com/office/drawing/2014/main" id="{E38BFA2E-EBDB-41E9-A199-28D59C2F551E}"/>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5" name="">
            <a:extLst xmlns:a="http://schemas.openxmlformats.org/drawingml/2006/main">
              <a:ext uri="{FF2B5EF4-FFF2-40B4-BE49-F238E27FC236}">
                <a16:creationId xmlns:a16="http://schemas.microsoft.com/office/drawing/2014/main" id="{F0E6082A-281D-4A35-87F0-4E6C48B3EB90}"/>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A specialist does not receive another agent’s raw conversation history.</a:t>
            </a:r>
          </a:p>
        </p:txBody>
      </p:sp>
      <p:sp>
        <p:nvSpPr>
          <p:cNvPr id="6" name="">
            <a:extLst xmlns:a="http://schemas.openxmlformats.org/drawingml/2006/main">
              <a:ext uri="{FF2B5EF4-FFF2-40B4-BE49-F238E27FC236}">
                <a16:creationId xmlns:a16="http://schemas.microsoft.com/office/drawing/2014/main" id="{ED2D976E-4C17-42F5-BD8F-DB6535A2F67D}"/>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5 / 8</a:t>
            </a:r>
          </a:p>
        </p:txBody>
      </p:sp>
    </p:spTree>
    <p:extLst>
      <p:ext uri="{BB962C8B-B14F-4D97-AF65-F5344CB8AC3E}">
        <p14:creationId xmlns:p14="http://schemas.microsoft.com/office/powerpoint/2010/main" val="1025368666"/>
      </p:ext>
    </p:extLst>
  </p:cSld>
</p:sld>
</file>

<file path=ppt/slides/slide6.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643ACA3-5663-465E-B760-39803BDEBB70}"/>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Document processing and search</a:t>
            </a:r>
          </a:p>
        </p:txBody>
      </p:sp>
      <p:sp>
        <p:nvSpPr>
          <p:cNvPr id="2" name="">
            <a:extLst xmlns:a="http://schemas.openxmlformats.org/drawingml/2006/main">
              <a:ext uri="{FF2B5EF4-FFF2-40B4-BE49-F238E27FC236}">
                <a16:creationId xmlns:a16="http://schemas.microsoft.com/office/drawing/2014/main" id="{22DABB8A-BB12-4A2B-99AE-CF83BB5F1D45}"/>
              </a:ext>
            </a:extLst>
          </p:cNvPr>
          <p:cNvSpPr>
            <a:spLocks xmlns:a="http://schemas.openxmlformats.org/drawingml/2006/main" noGrp="1"/>
          </p:cNvSpPr>
          <p:nvPr/>
        </p:nvSpPr>
        <p:spPr>
          <a:xfrm xmlns:a="http://schemas.openxmlformats.org/drawingml/2006/main">
            <a:off x="628650" y="119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Main component 3</a:t>
            </a:r>
          </a:p>
        </p:txBody>
      </p:sp>
      <p:sp>
        <p:nvSpPr>
          <p:cNvPr id="3" name="">
            <a:extLst xmlns:a="http://schemas.openxmlformats.org/drawingml/2006/main">
              <a:ext uri="{FF2B5EF4-FFF2-40B4-BE49-F238E27FC236}">
                <a16:creationId xmlns:a16="http://schemas.microsoft.com/office/drawing/2014/main" id="{6B477ED1-8C75-4495-AA8C-5DA8B0163E24}"/>
              </a:ext>
            </a:extLst>
          </p:cNvPr>
          <p:cNvSpPr>
            <a:spLocks xmlns:a="http://schemas.openxmlformats.org/drawingml/2006/main" noGrp="1"/>
          </p:cNvSpPr>
          <p:nvPr/>
        </p:nvSpPr>
        <p:spPr>
          <a:xfrm xmlns:a="http://schemas.openxmlformats.org/drawingml/2006/main">
            <a:off x="628650" y="19716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ingest() extracts text, splits it into chunks and optionally embeds it.</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parse_isolated() reads files in a separate, limited process.</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retrieve() combines BM25 keyword search with optional meaning search.</a:t>
            </a:r>
          </a:p>
        </p:txBody>
      </p:sp>
      <p:sp>
        <p:nvSpPr>
          <p:cNvPr id="4" name="">
            <a:extLst xmlns:a="http://schemas.openxmlformats.org/drawingml/2006/main">
              <a:ext uri="{FF2B5EF4-FFF2-40B4-BE49-F238E27FC236}">
                <a16:creationId xmlns:a16="http://schemas.microsoft.com/office/drawing/2014/main" id="{6ACC8194-7551-43C0-BB68-D8C6D7BB0E9B}"/>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5" name="">
            <a:extLst xmlns:a="http://schemas.openxmlformats.org/drawingml/2006/main">
              <a:ext uri="{FF2B5EF4-FFF2-40B4-BE49-F238E27FC236}">
                <a16:creationId xmlns:a16="http://schemas.microsoft.com/office/drawing/2014/main" id="{ECABAD81-5574-4225-8910-67DD9E884C19}"/>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Relevant passages enter the prompt. Embeddings run locally.</a:t>
            </a:r>
          </a:p>
        </p:txBody>
      </p:sp>
      <p:sp>
        <p:nvSpPr>
          <p:cNvPr id="6" name="">
            <a:extLst xmlns:a="http://schemas.openxmlformats.org/drawingml/2006/main">
              <a:ext uri="{FF2B5EF4-FFF2-40B4-BE49-F238E27FC236}">
                <a16:creationId xmlns:a16="http://schemas.microsoft.com/office/drawing/2014/main" id="{908BAD70-9EC8-452C-985B-E18A6178330F}"/>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6 / 8</a:t>
            </a:r>
          </a:p>
        </p:txBody>
      </p:sp>
    </p:spTree>
    <p:extLst>
      <p:ext uri="{BB962C8B-B14F-4D97-AF65-F5344CB8AC3E}">
        <p14:creationId xmlns:p14="http://schemas.microsoft.com/office/powerpoint/2010/main" val="551591335"/>
      </p:ext>
    </p:extLst>
  </p:cSld>
</p:sld>
</file>

<file path=ppt/slides/slide7.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8F25D94-7322-4258-8593-62DCB592AE09}"/>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Authentication and data isolation</a:t>
            </a:r>
          </a:p>
        </p:txBody>
      </p:sp>
      <p:sp>
        <p:nvSpPr>
          <p:cNvPr id="2" name="">
            <a:extLst xmlns:a="http://schemas.openxmlformats.org/drawingml/2006/main">
              <a:ext uri="{FF2B5EF4-FFF2-40B4-BE49-F238E27FC236}">
                <a16:creationId xmlns:a16="http://schemas.microsoft.com/office/drawing/2014/main" id="{9C4DD06D-62D3-4286-88A5-3DCA3124C99B}"/>
              </a:ext>
            </a:extLst>
          </p:cNvPr>
          <p:cNvSpPr>
            <a:spLocks xmlns:a="http://schemas.openxmlformats.org/drawingml/2006/main" noGrp="1"/>
          </p:cNvSpPr>
          <p:nvPr/>
        </p:nvSpPr>
        <p:spPr>
          <a:xfrm xmlns:a="http://schemas.openxmlformats.org/drawingml/2006/main">
            <a:off x="628650" y="11906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52616B"/>
                </a:solidFill>
                <a:latin typeface="Arial"/>
                <a:ea typeface="Arial"/>
                <a:cs typeface="Arial"/>
              </a:defRPr>
            </a:defPPr>
            <a:lvl1pPr>
              <a:defRPr sz="1725" b="0">
                <a:solidFill>
                  <a:srgbClr val="52616B"/>
                </a:solidFill>
                <a:latin typeface="Arial"/>
                <a:ea typeface="Arial"/>
                <a:cs typeface="Arial"/>
              </a:defRPr>
            </a:lvl1pPr>
            <a:lvl2pPr>
              <a:defRPr sz="1725" b="0">
                <a:solidFill>
                  <a:srgbClr val="52616B"/>
                </a:solidFill>
                <a:latin typeface="Arial"/>
                <a:ea typeface="Arial"/>
                <a:cs typeface="Arial"/>
              </a:defRPr>
            </a:lvl2pPr>
            <a:lvl3pPr>
              <a:defRPr sz="1725" b="0">
                <a:solidFill>
                  <a:srgbClr val="52616B"/>
                </a:solidFill>
                <a:latin typeface="Arial"/>
                <a:ea typeface="Arial"/>
                <a:cs typeface="Arial"/>
              </a:defRPr>
            </a:lvl3pPr>
            <a:lvl4pPr>
              <a:defRPr sz="1725" b="0">
                <a:solidFill>
                  <a:srgbClr val="52616B"/>
                </a:solidFill>
                <a:latin typeface="Arial"/>
                <a:ea typeface="Arial"/>
                <a:cs typeface="Arial"/>
              </a:defRPr>
            </a:lvl4pPr>
            <a:lvl5pPr>
              <a:defRPr sz="1725" b="0">
                <a:solidFill>
                  <a:srgbClr val="52616B"/>
                </a:solidFill>
                <a:latin typeface="Arial"/>
                <a:ea typeface="Arial"/>
                <a:cs typeface="Arial"/>
              </a:defRPr>
            </a:lvl5pPr>
            <a:lvl6pPr>
              <a:defRPr sz="1725" b="0">
                <a:solidFill>
                  <a:srgbClr val="52616B"/>
                </a:solidFill>
                <a:latin typeface="Arial"/>
                <a:ea typeface="Arial"/>
                <a:cs typeface="Arial"/>
              </a:defRPr>
            </a:lvl6pPr>
            <a:lvl7pPr>
              <a:defRPr sz="1725" b="0">
                <a:solidFill>
                  <a:srgbClr val="52616B"/>
                </a:solidFill>
                <a:latin typeface="Arial"/>
                <a:ea typeface="Arial"/>
                <a:cs typeface="Arial"/>
              </a:defRPr>
            </a:lvl7pPr>
            <a:lvl8pPr>
              <a:defRPr sz="1725" b="0">
                <a:solidFill>
                  <a:srgbClr val="52616B"/>
                </a:solidFill>
                <a:latin typeface="Arial"/>
                <a:ea typeface="Arial"/>
                <a:cs typeface="Arial"/>
              </a:defRPr>
            </a:lvl8pPr>
            <a:lvl9pPr>
              <a:defRPr sz="1725" b="0">
                <a:solidFill>
                  <a:srgbClr val="52616B"/>
                </a:solidFill>
                <a:latin typeface="Arial"/>
                <a:ea typeface="Arial"/>
                <a:cs typeface="Arial"/>
              </a:defRPr>
            </a:lvl9pPr>
          </a:lstStyle>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Main component 4</a:t>
            </a:r>
          </a:p>
        </p:txBody>
      </p:sp>
      <p:sp>
        <p:nvSpPr>
          <p:cNvPr id="3" name="">
            <a:extLst xmlns:a="http://schemas.openxmlformats.org/drawingml/2006/main">
              <a:ext uri="{FF2B5EF4-FFF2-40B4-BE49-F238E27FC236}">
                <a16:creationId xmlns:a16="http://schemas.microsoft.com/office/drawing/2014/main" id="{35948996-AD30-47C9-947E-9414C3B64A38}"/>
              </a:ext>
            </a:extLst>
          </p:cNvPr>
          <p:cNvSpPr>
            <a:spLocks xmlns:a="http://schemas.openxmlformats.org/drawingml/2006/main" noGrp="1"/>
          </p:cNvSpPr>
          <p:nvPr/>
        </p:nvSpPr>
        <p:spPr>
          <a:xfrm xmlns:a="http://schemas.openxmlformats.org/drawingml/2006/main">
            <a:off x="628650" y="19716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Guests get separate workspaces. Signing in is optional.</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Browsers use HttpOnly cookies. Native tokens use Expo SecureStore.</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authenticated_id() and session_ok() check identity and sessions.</a:t>
            </a:r>
          </a:p>
        </p:txBody>
      </p:sp>
      <p:sp>
        <p:nvSpPr>
          <p:cNvPr id="4" name="">
            <a:extLst xmlns:a="http://schemas.openxmlformats.org/drawingml/2006/main">
              <a:ext uri="{FF2B5EF4-FFF2-40B4-BE49-F238E27FC236}">
                <a16:creationId xmlns:a16="http://schemas.microsoft.com/office/drawing/2014/main" id="{93FED0F4-5FCD-48E3-A9C2-303F819E06D4}"/>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5" name="">
            <a:extLst xmlns:a="http://schemas.openxmlformats.org/drawingml/2006/main">
              <a:ext uri="{FF2B5EF4-FFF2-40B4-BE49-F238E27FC236}">
                <a16:creationId xmlns:a16="http://schemas.microsoft.com/office/drawing/2014/main" id="{6DB46315-CF1F-4923-9FB5-171B3A6D0A62}"/>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The backend checks ownership before returning private data.</a:t>
            </a:r>
          </a:p>
        </p:txBody>
      </p:sp>
      <p:sp>
        <p:nvSpPr>
          <p:cNvPr id="6" name="">
            <a:extLst xmlns:a="http://schemas.openxmlformats.org/drawingml/2006/main">
              <a:ext uri="{FF2B5EF4-FFF2-40B4-BE49-F238E27FC236}">
                <a16:creationId xmlns:a16="http://schemas.microsoft.com/office/drawing/2014/main" id="{70F05371-6ADB-447D-9D24-31EC68C30A0B}"/>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7 / 8</a:t>
            </a:r>
          </a:p>
        </p:txBody>
      </p:sp>
    </p:spTree>
    <p:extLst>
      <p:ext uri="{BB962C8B-B14F-4D97-AF65-F5344CB8AC3E}">
        <p14:creationId xmlns:p14="http://schemas.microsoft.com/office/powerpoint/2010/main" val="585355645"/>
      </p:ext>
    </p:extLst>
  </p:cSld>
</p:sld>
</file>

<file path=ppt/slides/slide8.xml><?xml version="1.0" encoding="utf-8"?>
<p:sld xmlns:p="http://schemas.openxmlformats.org/presentationml/2006/main">
  <p:cSld>
    <p:bg>
      <p:bgPr>
        <a:solidFill xmlns:a="http://schemas.openxmlformats.org/drawingml/2006/main">
          <a:srgbClr val="FFFB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261059-EAF9-4758-9587-02C717B26B12}"/>
              </a:ext>
            </a:extLst>
          </p:cNvPr>
          <p:cNvSpPr>
            <a:spLocks xmlns:a="http://schemas.openxmlformats.org/drawingml/2006/main" noGrp="1"/>
          </p:cNvSpPr>
          <p:nvPr/>
        </p:nvSpPr>
        <p:spPr>
          <a:xfrm xmlns:a="http://schemas.openxmlformats.org/drawingml/2006/main">
            <a:off x="609600" y="41910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450" b="1">
                <a:solidFill>
                  <a:srgbClr val="123044"/>
                </a:solidFill>
                <a:latin typeface="Arial"/>
                <a:ea typeface="Arial"/>
                <a:cs typeface="Arial"/>
              </a:defRPr>
            </a:defPPr>
            <a:lvl1pPr>
              <a:defRPr sz="3450" b="1">
                <a:solidFill>
                  <a:srgbClr val="123044"/>
                </a:solidFill>
                <a:latin typeface="Arial"/>
                <a:ea typeface="Arial"/>
                <a:cs typeface="Arial"/>
              </a:defRPr>
            </a:lvl1pPr>
            <a:lvl2pPr>
              <a:defRPr sz="3450" b="1">
                <a:solidFill>
                  <a:srgbClr val="123044"/>
                </a:solidFill>
                <a:latin typeface="Arial"/>
                <a:ea typeface="Arial"/>
                <a:cs typeface="Arial"/>
              </a:defRPr>
            </a:lvl2pPr>
            <a:lvl3pPr>
              <a:defRPr sz="3450" b="1">
                <a:solidFill>
                  <a:srgbClr val="123044"/>
                </a:solidFill>
                <a:latin typeface="Arial"/>
                <a:ea typeface="Arial"/>
                <a:cs typeface="Arial"/>
              </a:defRPr>
            </a:lvl3pPr>
            <a:lvl4pPr>
              <a:defRPr sz="3450" b="1">
                <a:solidFill>
                  <a:srgbClr val="123044"/>
                </a:solidFill>
                <a:latin typeface="Arial"/>
                <a:ea typeface="Arial"/>
                <a:cs typeface="Arial"/>
              </a:defRPr>
            </a:lvl4pPr>
            <a:lvl5pPr>
              <a:defRPr sz="3450" b="1">
                <a:solidFill>
                  <a:srgbClr val="123044"/>
                </a:solidFill>
                <a:latin typeface="Arial"/>
                <a:ea typeface="Arial"/>
                <a:cs typeface="Arial"/>
              </a:defRPr>
            </a:lvl5pPr>
            <a:lvl6pPr>
              <a:defRPr sz="3450" b="1">
                <a:solidFill>
                  <a:srgbClr val="123044"/>
                </a:solidFill>
                <a:latin typeface="Arial"/>
                <a:ea typeface="Arial"/>
                <a:cs typeface="Arial"/>
              </a:defRPr>
            </a:lvl6pPr>
            <a:lvl7pPr>
              <a:defRPr sz="3450" b="1">
                <a:solidFill>
                  <a:srgbClr val="123044"/>
                </a:solidFill>
                <a:latin typeface="Arial"/>
                <a:ea typeface="Arial"/>
                <a:cs typeface="Arial"/>
              </a:defRPr>
            </a:lvl7pPr>
            <a:lvl8pPr>
              <a:defRPr sz="3450" b="1">
                <a:solidFill>
                  <a:srgbClr val="123044"/>
                </a:solidFill>
                <a:latin typeface="Arial"/>
                <a:ea typeface="Arial"/>
                <a:cs typeface="Arial"/>
              </a:defRPr>
            </a:lvl8pPr>
            <a:lvl9pPr>
              <a:defRPr sz="3450" b="1">
                <a:solidFill>
                  <a:srgbClr val="123044"/>
                </a:solidFill>
                <a:latin typeface="Arial"/>
                <a:ea typeface="Arial"/>
                <a:cs typeface="Arial"/>
              </a:defRPr>
            </a:lvl9pPr>
          </a:lstStyle>
          <a:p xmlns:a="http://schemas.openxmlformats.org/drawingml/2006/main">
            <a:pPr>
              <a:defRPr sz="3450" b="1">
                <a:solidFill>
                  <a:srgbClr val="123044"/>
                </a:solidFill>
                <a:latin typeface="Arial"/>
                <a:ea typeface="Arial"/>
                <a:cs typeface="Arial"/>
              </a:defRPr>
            </a:pPr>
            <a:r>
              <a:rPr sz="3450" b="1">
                <a:solidFill>
                  <a:srgbClr val="123044"/>
                </a:solidFill>
                <a:latin typeface="Arial"/>
                <a:ea typeface="Arial"/>
                <a:cs typeface="Arial"/>
              </a:rPr>
              <a:t>End-to-end example: Harvey and a CV</a:t>
            </a:r>
          </a:p>
        </p:txBody>
      </p:sp>
      <p:sp>
        <p:nvSpPr>
          <p:cNvPr id="2" name="">
            <a:extLst xmlns:a="http://schemas.openxmlformats.org/drawingml/2006/main">
              <a:ext uri="{FF2B5EF4-FFF2-40B4-BE49-F238E27FC236}">
                <a16:creationId xmlns:a16="http://schemas.microsoft.com/office/drawing/2014/main" id="{C7FB51B3-CEF5-4420-BE7E-1B6EA6A907F8}"/>
              </a:ext>
            </a:extLst>
          </p:cNvPr>
          <p:cNvSpPr>
            <a:spLocks xmlns:a="http://schemas.openxmlformats.org/drawingml/2006/main" noGrp="1"/>
          </p:cNvSpPr>
          <p:nvPr/>
        </p:nvSpPr>
        <p:spPr>
          <a:xfrm xmlns:a="http://schemas.openxmlformats.org/drawingml/2006/main">
            <a:off x="628650" y="1781175"/>
            <a:ext cx="1085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a:solidFill>
                  <a:srgbClr val="1F2933"/>
                </a:solidFill>
                <a:latin typeface="Arial"/>
                <a:ea typeface="Arial"/>
                <a:cs typeface="Arial"/>
              </a:defRPr>
            </a:defPPr>
            <a:lvl1pPr>
              <a:defRPr sz="2325">
                <a:solidFill>
                  <a:srgbClr val="1F2933"/>
                </a:solidFill>
                <a:latin typeface="Arial"/>
                <a:ea typeface="Arial"/>
                <a:cs typeface="Arial"/>
              </a:defRPr>
            </a:lvl1pPr>
            <a:lvl2pPr>
              <a:defRPr sz="2325">
                <a:solidFill>
                  <a:srgbClr val="1F2933"/>
                </a:solidFill>
                <a:latin typeface="Arial"/>
                <a:ea typeface="Arial"/>
                <a:cs typeface="Arial"/>
              </a:defRPr>
            </a:lvl2pPr>
            <a:lvl3pPr>
              <a:defRPr sz="2325">
                <a:solidFill>
                  <a:srgbClr val="1F2933"/>
                </a:solidFill>
                <a:latin typeface="Arial"/>
                <a:ea typeface="Arial"/>
                <a:cs typeface="Arial"/>
              </a:defRPr>
            </a:lvl3pPr>
            <a:lvl4pPr>
              <a:defRPr sz="2325">
                <a:solidFill>
                  <a:srgbClr val="1F2933"/>
                </a:solidFill>
                <a:latin typeface="Arial"/>
                <a:ea typeface="Arial"/>
                <a:cs typeface="Arial"/>
              </a:defRPr>
            </a:lvl4pPr>
            <a:lvl5pPr>
              <a:defRPr sz="2325">
                <a:solidFill>
                  <a:srgbClr val="1F2933"/>
                </a:solidFill>
                <a:latin typeface="Arial"/>
                <a:ea typeface="Arial"/>
                <a:cs typeface="Arial"/>
              </a:defRPr>
            </a:lvl5pPr>
            <a:lvl6pPr>
              <a:defRPr sz="2325">
                <a:solidFill>
                  <a:srgbClr val="1F2933"/>
                </a:solidFill>
                <a:latin typeface="Arial"/>
                <a:ea typeface="Arial"/>
                <a:cs typeface="Arial"/>
              </a:defRPr>
            </a:lvl6pPr>
            <a:lvl7pPr>
              <a:defRPr sz="2325">
                <a:solidFill>
                  <a:srgbClr val="1F2933"/>
                </a:solidFill>
                <a:latin typeface="Arial"/>
                <a:ea typeface="Arial"/>
                <a:cs typeface="Arial"/>
              </a:defRPr>
            </a:lvl7pPr>
            <a:lvl8pPr>
              <a:defRPr sz="2325">
                <a:solidFill>
                  <a:srgbClr val="1F2933"/>
                </a:solidFill>
                <a:latin typeface="Arial"/>
                <a:ea typeface="Arial"/>
                <a:cs typeface="Arial"/>
              </a:defRPr>
            </a:lvl8pPr>
            <a:lvl9pPr>
              <a:defRPr sz="2325">
                <a:solidFill>
                  <a:srgbClr val="1F2933"/>
                </a:solidFill>
                <a:latin typeface="Arial"/>
                <a:ea typeface="Arial"/>
                <a:cs typeface="Arial"/>
              </a:defRPr>
            </a:lvl9pPr>
          </a:lstStyle>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Upload a CV. The backend validates it and prepares searchable text.</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Ask Harvey to prepare interview questions using the CV.</a:t>
            </a:r>
          </a:p>
          <a:p xmlns:a="http://schemas.openxmlformats.org/drawingml/2006/main">
            <a:pPr marL="241300" indent="-114300">
              <a:spcAft>
                <a:spcPts val="2300"/>
              </a:spcAft>
              <a:buChar char="•"/>
              <a:defRPr sz="2325">
                <a:solidFill>
                  <a:srgbClr val="1F2933"/>
                </a:solidFill>
                <a:latin typeface="Arial"/>
                <a:ea typeface="Arial"/>
                <a:cs typeface="Arial"/>
              </a:defRPr>
            </a:pPr>
            <a:r>
              <a:rPr sz="2325">
                <a:solidFill>
                  <a:srgbClr val="1F2933"/>
                </a:solidFill>
                <a:latin typeface="Arial"/>
                <a:ea typeface="Arial"/>
                <a:cs typeface="Arial"/>
              </a:rPr>
              <a:t>The backend checks ownership, retrieves passages and builds context.</a:t>
            </a:r>
          </a:p>
        </p:txBody>
      </p:sp>
      <p:sp>
        <p:nvSpPr>
          <p:cNvPr id="3" name="">
            <a:extLst xmlns:a="http://schemas.openxmlformats.org/drawingml/2006/main">
              <a:ext uri="{FF2B5EF4-FFF2-40B4-BE49-F238E27FC236}">
                <a16:creationId xmlns:a16="http://schemas.microsoft.com/office/drawing/2014/main" id="{17975255-9238-4289-925D-AFD7BD67276A}"/>
              </a:ext>
            </a:extLst>
          </p:cNvPr>
          <p:cNvSpPr>
            <a:spLocks xmlns:a="http://schemas.openxmlformats.org/drawingml/2006/main" noGrp="1"/>
          </p:cNvSpPr>
          <p:nvPr/>
        </p:nvSpPr>
        <p:spPr>
          <a:xfrm xmlns:a="http://schemas.openxmlformats.org/drawingml/2006/main">
            <a:off x="628650" y="5905500"/>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75" b="1">
                <a:solidFill>
                  <a:srgbClr val="52616B"/>
                </a:solidFill>
                <a:latin typeface="Arial"/>
                <a:ea typeface="Arial"/>
                <a:cs typeface="Arial"/>
              </a:defRPr>
            </a:defPPr>
            <a:lvl1pPr>
              <a:defRPr sz="1275" b="1">
                <a:solidFill>
                  <a:srgbClr val="52616B"/>
                </a:solidFill>
                <a:latin typeface="Arial"/>
                <a:ea typeface="Arial"/>
                <a:cs typeface="Arial"/>
              </a:defRPr>
            </a:lvl1pPr>
            <a:lvl2pPr>
              <a:defRPr sz="1275" b="1">
                <a:solidFill>
                  <a:srgbClr val="52616B"/>
                </a:solidFill>
                <a:latin typeface="Arial"/>
                <a:ea typeface="Arial"/>
                <a:cs typeface="Arial"/>
              </a:defRPr>
            </a:lvl2pPr>
            <a:lvl3pPr>
              <a:defRPr sz="1275" b="1">
                <a:solidFill>
                  <a:srgbClr val="52616B"/>
                </a:solidFill>
                <a:latin typeface="Arial"/>
                <a:ea typeface="Arial"/>
                <a:cs typeface="Arial"/>
              </a:defRPr>
            </a:lvl3pPr>
            <a:lvl4pPr>
              <a:defRPr sz="1275" b="1">
                <a:solidFill>
                  <a:srgbClr val="52616B"/>
                </a:solidFill>
                <a:latin typeface="Arial"/>
                <a:ea typeface="Arial"/>
                <a:cs typeface="Arial"/>
              </a:defRPr>
            </a:lvl4pPr>
            <a:lvl5pPr>
              <a:defRPr sz="1275" b="1">
                <a:solidFill>
                  <a:srgbClr val="52616B"/>
                </a:solidFill>
                <a:latin typeface="Arial"/>
                <a:ea typeface="Arial"/>
                <a:cs typeface="Arial"/>
              </a:defRPr>
            </a:lvl5pPr>
            <a:lvl6pPr>
              <a:defRPr sz="1275" b="1">
                <a:solidFill>
                  <a:srgbClr val="52616B"/>
                </a:solidFill>
                <a:latin typeface="Arial"/>
                <a:ea typeface="Arial"/>
                <a:cs typeface="Arial"/>
              </a:defRPr>
            </a:lvl6pPr>
            <a:lvl7pPr>
              <a:defRPr sz="1275" b="1">
                <a:solidFill>
                  <a:srgbClr val="52616B"/>
                </a:solidFill>
                <a:latin typeface="Arial"/>
                <a:ea typeface="Arial"/>
                <a:cs typeface="Arial"/>
              </a:defRPr>
            </a:lvl7pPr>
            <a:lvl8pPr>
              <a:defRPr sz="1275" b="1">
                <a:solidFill>
                  <a:srgbClr val="52616B"/>
                </a:solidFill>
                <a:latin typeface="Arial"/>
                <a:ea typeface="Arial"/>
                <a:cs typeface="Arial"/>
              </a:defRPr>
            </a:lvl8pPr>
            <a:lvl9pPr>
              <a:defRPr sz="1275" b="1">
                <a:solidFill>
                  <a:srgbClr val="52616B"/>
                </a:solidFill>
                <a:latin typeface="Arial"/>
                <a:ea typeface="Arial"/>
                <a:cs typeface="Arial"/>
              </a:defRPr>
            </a:lvl9pPr>
          </a:lstStyle>
          <a:p xmlns:a="http://schemas.openxmlformats.org/drawingml/2006/main">
            <a:pPr>
              <a:defRPr sz="1275" b="1">
                <a:solidFill>
                  <a:srgbClr val="52616B"/>
                </a:solidFill>
                <a:latin typeface="Arial"/>
                <a:ea typeface="Arial"/>
                <a:cs typeface="Arial"/>
              </a:defRPr>
            </a:pPr>
            <a:r>
              <a:rPr sz="1275" b="1">
                <a:solidFill>
                  <a:srgbClr val="52616B"/>
                </a:solidFill>
                <a:latin typeface="Arial"/>
                <a:ea typeface="Arial"/>
                <a:cs typeface="Arial"/>
              </a:rPr>
              <a:t>REMEMBER</a:t>
            </a:r>
          </a:p>
        </p:txBody>
      </p:sp>
      <p:sp>
        <p:nvSpPr>
          <p:cNvPr id="4" name="">
            <a:extLst xmlns:a="http://schemas.openxmlformats.org/drawingml/2006/main">
              <a:ext uri="{FF2B5EF4-FFF2-40B4-BE49-F238E27FC236}">
                <a16:creationId xmlns:a16="http://schemas.microsoft.com/office/drawing/2014/main" id="{7F395384-3F06-478B-81A1-FACA3A2862DD}"/>
              </a:ext>
            </a:extLst>
          </p:cNvPr>
          <p:cNvSpPr>
            <a:spLocks xmlns:a="http://schemas.openxmlformats.org/drawingml/2006/main" noGrp="1"/>
          </p:cNvSpPr>
          <p:nvPr/>
        </p:nvSpPr>
        <p:spPr>
          <a:xfrm xmlns:a="http://schemas.openxmlformats.org/drawingml/2006/main">
            <a:off x="2143125" y="5857875"/>
            <a:ext cx="9429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044"/>
                </a:solidFill>
                <a:latin typeface="Arial"/>
                <a:ea typeface="Arial"/>
                <a:cs typeface="Arial"/>
              </a:defRPr>
            </a:defPPr>
            <a:lvl1pPr>
              <a:defRPr sz="2175" b="1">
                <a:solidFill>
                  <a:srgbClr val="123044"/>
                </a:solidFill>
                <a:latin typeface="Arial"/>
                <a:ea typeface="Arial"/>
                <a:cs typeface="Arial"/>
              </a:defRPr>
            </a:lvl1pPr>
            <a:lvl2pPr>
              <a:defRPr sz="2175" b="1">
                <a:solidFill>
                  <a:srgbClr val="123044"/>
                </a:solidFill>
                <a:latin typeface="Arial"/>
                <a:ea typeface="Arial"/>
                <a:cs typeface="Arial"/>
              </a:defRPr>
            </a:lvl2pPr>
            <a:lvl3pPr>
              <a:defRPr sz="2175" b="1">
                <a:solidFill>
                  <a:srgbClr val="123044"/>
                </a:solidFill>
                <a:latin typeface="Arial"/>
                <a:ea typeface="Arial"/>
                <a:cs typeface="Arial"/>
              </a:defRPr>
            </a:lvl3pPr>
            <a:lvl4pPr>
              <a:defRPr sz="2175" b="1">
                <a:solidFill>
                  <a:srgbClr val="123044"/>
                </a:solidFill>
                <a:latin typeface="Arial"/>
                <a:ea typeface="Arial"/>
                <a:cs typeface="Arial"/>
              </a:defRPr>
            </a:lvl4pPr>
            <a:lvl5pPr>
              <a:defRPr sz="2175" b="1">
                <a:solidFill>
                  <a:srgbClr val="123044"/>
                </a:solidFill>
                <a:latin typeface="Arial"/>
                <a:ea typeface="Arial"/>
                <a:cs typeface="Arial"/>
              </a:defRPr>
            </a:lvl5pPr>
            <a:lvl6pPr>
              <a:defRPr sz="2175" b="1">
                <a:solidFill>
                  <a:srgbClr val="123044"/>
                </a:solidFill>
                <a:latin typeface="Arial"/>
                <a:ea typeface="Arial"/>
                <a:cs typeface="Arial"/>
              </a:defRPr>
            </a:lvl6pPr>
            <a:lvl7pPr>
              <a:defRPr sz="2175" b="1">
                <a:solidFill>
                  <a:srgbClr val="123044"/>
                </a:solidFill>
                <a:latin typeface="Arial"/>
                <a:ea typeface="Arial"/>
                <a:cs typeface="Arial"/>
              </a:defRPr>
            </a:lvl7pPr>
            <a:lvl8pPr>
              <a:defRPr sz="2175" b="1">
                <a:solidFill>
                  <a:srgbClr val="123044"/>
                </a:solidFill>
                <a:latin typeface="Arial"/>
                <a:ea typeface="Arial"/>
                <a:cs typeface="Arial"/>
              </a:defRPr>
            </a:lvl8pPr>
            <a:lvl9pPr>
              <a:defRPr sz="2175" b="1">
                <a:solidFill>
                  <a:srgbClr val="123044"/>
                </a:solidFill>
                <a:latin typeface="Arial"/>
                <a:ea typeface="Arial"/>
                <a:cs typeface="Arial"/>
              </a:defRPr>
            </a:lvl9pPr>
          </a:lstStyle>
          <a:p xmlns:a="http://schemas.openxmlformats.org/drawingml/2006/main">
            <a:pPr>
              <a:defRPr sz="2175" b="1">
                <a:solidFill>
                  <a:srgbClr val="123044"/>
                </a:solidFill>
                <a:latin typeface="Arial"/>
                <a:ea typeface="Arial"/>
                <a:cs typeface="Arial"/>
              </a:defRPr>
            </a:pPr>
            <a:r>
              <a:rPr sz="2175" b="1">
                <a:solidFill>
                  <a:srgbClr val="123044"/>
                </a:solidFill>
                <a:latin typeface="Arial"/>
                <a:ea typeface="Arial"/>
                <a:cs typeface="Arial"/>
              </a:rPr>
              <a:t>The reply streams to the screen and is saved in the database.</a:t>
            </a:r>
          </a:p>
        </p:txBody>
      </p:sp>
      <p:sp>
        <p:nvSpPr>
          <p:cNvPr id="5" name="">
            <a:extLst xmlns:a="http://schemas.openxmlformats.org/drawingml/2006/main">
              <a:ext uri="{FF2B5EF4-FFF2-40B4-BE49-F238E27FC236}">
                <a16:creationId xmlns:a16="http://schemas.microsoft.com/office/drawing/2014/main" id="{3BC4AAB0-A9D1-4A5A-BB62-2E0AAF047754}"/>
              </a:ext>
            </a:extLst>
          </p:cNvPr>
          <p:cNvSpPr>
            <a:spLocks xmlns:a="http://schemas.openxmlformats.org/drawingml/2006/main" noGrp="1"/>
          </p:cNvSpPr>
          <p:nvPr/>
        </p:nvSpPr>
        <p:spPr>
          <a:xfrm xmlns:a="http://schemas.openxmlformats.org/drawingml/2006/main">
            <a:off x="10858500" y="6534150"/>
            <a:ext cx="76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0">
                <a:solidFill>
                  <a:srgbClr val="52616B"/>
                </a:solidFill>
                <a:latin typeface="Arial"/>
                <a:ea typeface="Arial"/>
                <a:cs typeface="Arial"/>
              </a:defRPr>
            </a:defPPr>
            <a:lvl1pPr>
              <a:defRPr sz="1125" b="0">
                <a:solidFill>
                  <a:srgbClr val="52616B"/>
                </a:solidFill>
                <a:latin typeface="Arial"/>
                <a:ea typeface="Arial"/>
                <a:cs typeface="Arial"/>
              </a:defRPr>
            </a:lvl1pPr>
            <a:lvl2pPr>
              <a:defRPr sz="1125" b="0">
                <a:solidFill>
                  <a:srgbClr val="52616B"/>
                </a:solidFill>
                <a:latin typeface="Arial"/>
                <a:ea typeface="Arial"/>
                <a:cs typeface="Arial"/>
              </a:defRPr>
            </a:lvl2pPr>
            <a:lvl3pPr>
              <a:defRPr sz="1125" b="0">
                <a:solidFill>
                  <a:srgbClr val="52616B"/>
                </a:solidFill>
                <a:latin typeface="Arial"/>
                <a:ea typeface="Arial"/>
                <a:cs typeface="Arial"/>
              </a:defRPr>
            </a:lvl3pPr>
            <a:lvl4pPr>
              <a:defRPr sz="1125" b="0">
                <a:solidFill>
                  <a:srgbClr val="52616B"/>
                </a:solidFill>
                <a:latin typeface="Arial"/>
                <a:ea typeface="Arial"/>
                <a:cs typeface="Arial"/>
              </a:defRPr>
            </a:lvl4pPr>
            <a:lvl5pPr>
              <a:defRPr sz="1125" b="0">
                <a:solidFill>
                  <a:srgbClr val="52616B"/>
                </a:solidFill>
                <a:latin typeface="Arial"/>
                <a:ea typeface="Arial"/>
                <a:cs typeface="Arial"/>
              </a:defRPr>
            </a:lvl5pPr>
            <a:lvl6pPr>
              <a:defRPr sz="1125" b="0">
                <a:solidFill>
                  <a:srgbClr val="52616B"/>
                </a:solidFill>
                <a:latin typeface="Arial"/>
                <a:ea typeface="Arial"/>
                <a:cs typeface="Arial"/>
              </a:defRPr>
            </a:lvl6pPr>
            <a:lvl7pPr>
              <a:defRPr sz="1125" b="0">
                <a:solidFill>
                  <a:srgbClr val="52616B"/>
                </a:solidFill>
                <a:latin typeface="Arial"/>
                <a:ea typeface="Arial"/>
                <a:cs typeface="Arial"/>
              </a:defRPr>
            </a:lvl7pPr>
            <a:lvl8pPr>
              <a:defRPr sz="1125" b="0">
                <a:solidFill>
                  <a:srgbClr val="52616B"/>
                </a:solidFill>
                <a:latin typeface="Arial"/>
                <a:ea typeface="Arial"/>
                <a:cs typeface="Arial"/>
              </a:defRPr>
            </a:lvl8pPr>
            <a:lvl9pPr>
              <a:defRPr sz="1125" b="0">
                <a:solidFill>
                  <a:srgbClr val="52616B"/>
                </a:solidFill>
                <a:latin typeface="Arial"/>
                <a:ea typeface="Arial"/>
                <a:cs typeface="Arial"/>
              </a:defRPr>
            </a:lvl9pPr>
          </a:lstStyle>
          <a:p xmlns:a="http://schemas.openxmlformats.org/drawingml/2006/main">
            <a:pPr>
              <a:defRPr sz="1125" b="0">
                <a:solidFill>
                  <a:srgbClr val="52616B"/>
                </a:solidFill>
                <a:latin typeface="Arial"/>
                <a:ea typeface="Arial"/>
                <a:cs typeface="Arial"/>
              </a:defRPr>
            </a:pPr>
            <a:r>
              <a:rPr sz="1125" b="0">
                <a:solidFill>
                  <a:srgbClr val="52616B"/>
                </a:solidFill>
                <a:latin typeface="Arial"/>
                <a:ea typeface="Arial"/>
                <a:cs typeface="Arial"/>
              </a:rPr>
              <a:t>8 / 8</a:t>
            </a:r>
          </a:p>
        </p:txBody>
      </p:sp>
    </p:spTree>
    <p:extLst>
      <p:ext uri="{BB962C8B-B14F-4D97-AF65-F5344CB8AC3E}">
        <p14:creationId xmlns:p14="http://schemas.microsoft.com/office/powerpoint/2010/main" val="2368025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2026-10-27T15:15:05.2860000Z</dcterms:created>
  <dcterms:modified xsi:type="dcterms:W3CDTF">2026-10-27T15:15:05.2860000Z</dcterms:modified>
</coreProperties>
</file>